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image" Target="../media/image-1-5.png"/><Relationship Id="rId6" Type="http://schemas.openxmlformats.org/officeDocument/2006/relationships/image" Target="../media/image-1-6.svg"/><Relationship Id="rId7" Type="http://schemas.openxmlformats.org/officeDocument/2006/relationships/image" Target="../media/image-1-7.png"/><Relationship Id="rId8" Type="http://schemas.openxmlformats.org/officeDocument/2006/relationships/image" Target="../media/image-1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33333"/>
                </a:solidFill>
              </a:rPr>
              <a:t>Embed forward‑deployed engineers to replicate AI Defense success across UHC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10789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6F6F"/>
                </a:solidFill>
              </a:rPr>
              <a:t>AI Defense proved that cross‑functional, domain‑immersed teams can turn AI into measurable financial impact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65760" y="978408"/>
            <a:ext cx="11521440" cy="0"/>
          </a:xfrm>
          <a:prstGeom prst="line">
            <a:avLst/>
          </a:prstGeom>
          <a:noFill/>
          <a:ln w="12700">
            <a:solidFill>
              <a:srgbClr val="E8772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612880" y="292608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87722"/>
                </a:solidFill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6492240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F6F"/>
                </a:solidFill>
              </a:rPr>
              <a:t>Optum AI Defense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325880"/>
            <a:ext cx="4709160" cy="4160520"/>
          </a:xfrm>
          <a:prstGeom prst="roundRect">
            <a:avLst>
              <a:gd name="adj" fmla="val 879"/>
            </a:avLst>
          </a:prstGeom>
          <a:solidFill>
            <a:srgbClr val="F3F3F3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55448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333333"/>
                </a:solidFill>
              </a:rPr>
              <a:t>What AI Defense</a:t>
            </a:r>
            <a:endParaRPr lang="en-US" sz="2100" dirty="0"/>
          </a:p>
          <a:p>
            <a:pPr indent="0" marL="0">
              <a:buNone/>
            </a:pPr>
            <a:r>
              <a:rPr lang="en-US" sz="2100" b="1" dirty="0">
                <a:solidFill>
                  <a:srgbClr val="333333"/>
                </a:solidFill>
              </a:rPr>
              <a:t>achieved in 8 months</a:t>
            </a:r>
            <a:endParaRPr lang="en-US" sz="21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26280" y="1463040"/>
            <a:ext cx="384048" cy="47548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914400" y="2130552"/>
            <a:ext cx="1280160" cy="576072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87552" y="2212848"/>
            <a:ext cx="11338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87722"/>
                </a:solidFill>
              </a:rPr>
              <a:t>$50M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2468880" y="21945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</a:rPr>
              <a:t>insurance fraud signals identified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914400" y="2880360"/>
            <a:ext cx="1280160" cy="576072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87552" y="2962656"/>
            <a:ext cx="11338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87722"/>
                </a:solidFill>
              </a:rPr>
              <a:t>8 mos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2468880" y="294436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</a:rPr>
              <a:t>to learn workflows,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</a:rPr>
              <a:t>systems, and data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914400" y="3630168"/>
            <a:ext cx="1280160" cy="576072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87552" y="3712464"/>
            <a:ext cx="11338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87722"/>
                </a:solidFill>
              </a:rPr>
              <a:t>Agentic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E87722"/>
                </a:solidFill>
              </a:rPr>
              <a:t>platform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2468880" y="3694176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</a:rPr>
              <a:t>built using business + tech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</a:rPr>
              <a:t>context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914400" y="4379976"/>
            <a:ext cx="1280160" cy="576072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87552" y="4462272"/>
            <a:ext cx="11338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87722"/>
                </a:solidFill>
              </a:rPr>
              <a:t>Daily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E87722"/>
                </a:solidFill>
              </a:rPr>
              <a:t>collaboration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2468880" y="4443984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</a:rPr>
              <a:t>with SMEs, PI, validation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</a:rPr>
              <a:t>and data teams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5532120" y="1325880"/>
            <a:ext cx="6217920" cy="4160520"/>
          </a:xfrm>
          <a:prstGeom prst="roundRect">
            <a:avLst>
              <a:gd name="adj" fmla="val 879"/>
            </a:avLst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897880" y="16002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</a:rPr>
              <a:t>Why this matters now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5897880" y="196596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F6F6F"/>
                </a:solidFill>
              </a:rPr>
              <a:t>The same model can unlock value in other UHC domains</a:t>
            </a:r>
            <a:endParaRPr lang="en-US" sz="1400" dirty="0"/>
          </a:p>
        </p:txBody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64808" y="2331720"/>
            <a:ext cx="411480" cy="41148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5806440" y="2852928"/>
            <a:ext cx="1783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7722"/>
                </a:solidFill>
              </a:rPr>
              <a:t>Approach</a:t>
            </a:r>
            <a:endParaRPr lang="en-US" sz="1500" dirty="0"/>
          </a:p>
        </p:txBody>
      </p:sp>
      <p:sp>
        <p:nvSpPr>
          <p:cNvPr id="27" name="Shape 23"/>
          <p:cNvSpPr/>
          <p:nvPr/>
        </p:nvSpPr>
        <p:spPr>
          <a:xfrm>
            <a:off x="5852160" y="3346704"/>
            <a:ext cx="73152" cy="73152"/>
          </a:xfrm>
          <a:prstGeom prst="ellipse">
            <a:avLst/>
          </a:prstGeom>
          <a:solidFill>
            <a:srgbClr val="6F6F6F"/>
          </a:solidFill>
          <a:ln w="12700">
            <a:solidFill>
              <a:srgbClr val="6F6F6F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6062472" y="3273552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</a:rPr>
              <a:t>Embed engineers with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</a:rPr>
              <a:t>domain teams</a:t>
            </a:r>
            <a:endParaRPr lang="en-US" sz="1050" dirty="0"/>
          </a:p>
        </p:txBody>
      </p:sp>
      <p:sp>
        <p:nvSpPr>
          <p:cNvPr id="29" name="Shape 25"/>
          <p:cNvSpPr/>
          <p:nvPr/>
        </p:nvSpPr>
        <p:spPr>
          <a:xfrm>
            <a:off x="5852160" y="3785616"/>
            <a:ext cx="73152" cy="73152"/>
          </a:xfrm>
          <a:prstGeom prst="ellipse">
            <a:avLst/>
          </a:prstGeom>
          <a:solidFill>
            <a:srgbClr val="6F6F6F"/>
          </a:solidFill>
          <a:ln w="12700">
            <a:solidFill>
              <a:srgbClr val="6F6F6F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6062472" y="3712464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</a:rPr>
              <a:t>Learn processes,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</a:rPr>
              <a:t>systems &amp; pain points</a:t>
            </a:r>
            <a:endParaRPr lang="en-US" sz="1050" dirty="0"/>
          </a:p>
        </p:txBody>
      </p:sp>
      <p:sp>
        <p:nvSpPr>
          <p:cNvPr id="31" name="Shape 27"/>
          <p:cNvSpPr/>
          <p:nvPr/>
        </p:nvSpPr>
        <p:spPr>
          <a:xfrm>
            <a:off x="5852160" y="4224528"/>
            <a:ext cx="73152" cy="73152"/>
          </a:xfrm>
          <a:prstGeom prst="ellipse">
            <a:avLst/>
          </a:prstGeom>
          <a:solidFill>
            <a:srgbClr val="6F6F6F"/>
          </a:solidFill>
          <a:ln w="12700">
            <a:solidFill>
              <a:srgbClr val="6F6F6F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6062472" y="4151376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</a:rPr>
              <a:t>Translate signals into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</a:rPr>
              <a:t>AI workflows</a:t>
            </a:r>
            <a:endParaRPr lang="en-US" sz="1050" dirty="0"/>
          </a:p>
        </p:txBody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67928" y="2331720"/>
            <a:ext cx="411480" cy="411480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7909560" y="2852928"/>
            <a:ext cx="1783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7722"/>
                </a:solidFill>
              </a:rPr>
              <a:t>Target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E87722"/>
                </a:solidFill>
              </a:rPr>
              <a:t>domains</a:t>
            </a:r>
            <a:endParaRPr lang="en-US" sz="1500" dirty="0"/>
          </a:p>
        </p:txBody>
      </p:sp>
      <p:sp>
        <p:nvSpPr>
          <p:cNvPr id="35" name="Shape 30"/>
          <p:cNvSpPr/>
          <p:nvPr/>
        </p:nvSpPr>
        <p:spPr>
          <a:xfrm>
            <a:off x="7955280" y="3346704"/>
            <a:ext cx="73152" cy="73152"/>
          </a:xfrm>
          <a:prstGeom prst="ellipse">
            <a:avLst/>
          </a:prstGeom>
          <a:solidFill>
            <a:srgbClr val="6F6F6F"/>
          </a:solidFill>
          <a:ln w="12700">
            <a:solidFill>
              <a:srgbClr val="6F6F6F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8165592" y="3273552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</a:rPr>
              <a:t>Finance</a:t>
            </a:r>
            <a:endParaRPr lang="en-US" sz="1050" dirty="0"/>
          </a:p>
        </p:txBody>
      </p:sp>
      <p:sp>
        <p:nvSpPr>
          <p:cNvPr id="37" name="Shape 32"/>
          <p:cNvSpPr/>
          <p:nvPr/>
        </p:nvSpPr>
        <p:spPr>
          <a:xfrm>
            <a:off x="7955280" y="3785616"/>
            <a:ext cx="73152" cy="73152"/>
          </a:xfrm>
          <a:prstGeom prst="ellipse">
            <a:avLst/>
          </a:prstGeom>
          <a:solidFill>
            <a:srgbClr val="6F6F6F"/>
          </a:solidFill>
          <a:ln w="12700">
            <a:solidFill>
              <a:srgbClr val="6F6F6F"/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8165592" y="3712464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</a:rPr>
              <a:t>HR</a:t>
            </a:r>
            <a:endParaRPr lang="en-US" sz="1050" dirty="0"/>
          </a:p>
        </p:txBody>
      </p:sp>
      <p:sp>
        <p:nvSpPr>
          <p:cNvPr id="39" name="Shape 34"/>
          <p:cNvSpPr/>
          <p:nvPr/>
        </p:nvSpPr>
        <p:spPr>
          <a:xfrm>
            <a:off x="7955280" y="4224528"/>
            <a:ext cx="73152" cy="73152"/>
          </a:xfrm>
          <a:prstGeom prst="ellipse">
            <a:avLst/>
          </a:prstGeom>
          <a:solidFill>
            <a:srgbClr val="6F6F6F"/>
          </a:solidFill>
          <a:ln w="12700">
            <a:solidFill>
              <a:srgbClr val="6F6F6F"/>
            </a:solidFill>
            <a:prstDash val="solid"/>
          </a:ln>
        </p:spPr>
      </p:sp>
      <p:sp>
        <p:nvSpPr>
          <p:cNvPr id="40" name="Text 35"/>
          <p:cNvSpPr/>
          <p:nvPr/>
        </p:nvSpPr>
        <p:spPr>
          <a:xfrm>
            <a:off x="8165592" y="4151376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</a:rPr>
              <a:t>other UHC functions</a:t>
            </a:r>
            <a:endParaRPr lang="en-US" sz="1050" dirty="0"/>
          </a:p>
        </p:txBody>
      </p:sp>
      <p:pic>
        <p:nvPicPr>
          <p:cNvPr id="4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488168" y="2331720"/>
            <a:ext cx="411480" cy="411480"/>
          </a:xfrm>
          <a:prstGeom prst="rect">
            <a:avLst/>
          </a:prstGeom>
        </p:spPr>
      </p:pic>
      <p:sp>
        <p:nvSpPr>
          <p:cNvPr id="42" name="Text 36"/>
          <p:cNvSpPr/>
          <p:nvPr/>
        </p:nvSpPr>
        <p:spPr>
          <a:xfrm>
            <a:off x="9829800" y="2852928"/>
            <a:ext cx="1783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7722"/>
                </a:solidFill>
              </a:rPr>
              <a:t>Leadership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E87722"/>
                </a:solidFill>
              </a:rPr>
              <a:t>benefit</a:t>
            </a:r>
            <a:endParaRPr lang="en-US" sz="1500" dirty="0"/>
          </a:p>
        </p:txBody>
      </p:sp>
      <p:sp>
        <p:nvSpPr>
          <p:cNvPr id="43" name="Shape 37"/>
          <p:cNvSpPr/>
          <p:nvPr/>
        </p:nvSpPr>
        <p:spPr>
          <a:xfrm>
            <a:off x="9875520" y="3346704"/>
            <a:ext cx="73152" cy="73152"/>
          </a:xfrm>
          <a:prstGeom prst="ellipse">
            <a:avLst/>
          </a:prstGeom>
          <a:solidFill>
            <a:srgbClr val="6F6F6F"/>
          </a:solidFill>
          <a:ln w="12700">
            <a:solidFill>
              <a:srgbClr val="6F6F6F"/>
            </a:solidFill>
            <a:prstDash val="solid"/>
          </a:ln>
        </p:spPr>
      </p:sp>
      <p:sp>
        <p:nvSpPr>
          <p:cNvPr id="44" name="Text 38"/>
          <p:cNvSpPr/>
          <p:nvPr/>
        </p:nvSpPr>
        <p:spPr>
          <a:xfrm>
            <a:off x="10085832" y="3273552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</a:rPr>
              <a:t>Faster time‑to‑value</a:t>
            </a:r>
            <a:endParaRPr lang="en-US" sz="1050" dirty="0"/>
          </a:p>
        </p:txBody>
      </p:sp>
      <p:sp>
        <p:nvSpPr>
          <p:cNvPr id="45" name="Shape 39"/>
          <p:cNvSpPr/>
          <p:nvPr/>
        </p:nvSpPr>
        <p:spPr>
          <a:xfrm>
            <a:off x="9875520" y="3785616"/>
            <a:ext cx="73152" cy="73152"/>
          </a:xfrm>
          <a:prstGeom prst="ellipse">
            <a:avLst/>
          </a:prstGeom>
          <a:solidFill>
            <a:srgbClr val="6F6F6F"/>
          </a:solidFill>
          <a:ln w="12700">
            <a:solidFill>
              <a:srgbClr val="6F6F6F"/>
            </a:solidFill>
            <a:prstDash val="solid"/>
          </a:ln>
        </p:spPr>
      </p:sp>
      <p:sp>
        <p:nvSpPr>
          <p:cNvPr id="46" name="Text 40"/>
          <p:cNvSpPr/>
          <p:nvPr/>
        </p:nvSpPr>
        <p:spPr>
          <a:xfrm>
            <a:off x="10085832" y="3712464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</a:rPr>
              <a:t>Higher adoption</a:t>
            </a:r>
            <a:endParaRPr lang="en-US" sz="1050" dirty="0"/>
          </a:p>
        </p:txBody>
      </p:sp>
      <p:sp>
        <p:nvSpPr>
          <p:cNvPr id="47" name="Shape 41"/>
          <p:cNvSpPr/>
          <p:nvPr/>
        </p:nvSpPr>
        <p:spPr>
          <a:xfrm>
            <a:off x="9875520" y="4224528"/>
            <a:ext cx="73152" cy="73152"/>
          </a:xfrm>
          <a:prstGeom prst="ellipse">
            <a:avLst/>
          </a:prstGeom>
          <a:solidFill>
            <a:srgbClr val="6F6F6F"/>
          </a:solidFill>
          <a:ln w="12700">
            <a:solidFill>
              <a:srgbClr val="6F6F6F"/>
            </a:solidFill>
            <a:prstDash val="solid"/>
          </a:ln>
        </p:spPr>
      </p:sp>
      <p:sp>
        <p:nvSpPr>
          <p:cNvPr id="48" name="Text 42"/>
          <p:cNvSpPr/>
          <p:nvPr/>
        </p:nvSpPr>
        <p:spPr>
          <a:xfrm>
            <a:off x="10085832" y="4151376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</a:rPr>
              <a:t>Scalable innovation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</a:rPr>
              <a:t>model</a:t>
            </a:r>
            <a:endParaRPr lang="en-US" sz="1050" dirty="0"/>
          </a:p>
        </p:txBody>
      </p:sp>
      <p:sp>
        <p:nvSpPr>
          <p:cNvPr id="49" name="Shape 43"/>
          <p:cNvSpPr/>
          <p:nvPr/>
        </p:nvSpPr>
        <p:spPr>
          <a:xfrm>
            <a:off x="5303520" y="3493008"/>
            <a:ext cx="274320" cy="0"/>
          </a:xfrm>
          <a:prstGeom prst="line">
            <a:avLst/>
          </a:prstGeom>
          <a:noFill/>
          <a:ln w="12700">
            <a:solidFill>
              <a:srgbClr val="E87722"/>
            </a:solidFill>
            <a:prstDash val="solid"/>
            <a:headEnd type="none"/>
            <a:tailEnd type="triangle"/>
          </a:ln>
        </p:spPr>
      </p:sp>
      <p:sp>
        <p:nvSpPr>
          <p:cNvPr id="50" name="Text 44"/>
          <p:cNvSpPr/>
          <p:nvPr/>
        </p:nvSpPr>
        <p:spPr>
          <a:xfrm>
            <a:off x="914400" y="5806440"/>
            <a:ext cx="10515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87722"/>
                </a:solidFill>
              </a:rPr>
              <a:t>Proposal: deploy forward‑deployed engineers as a service across UHC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33333"/>
                </a:solidFill>
              </a:rPr>
              <a:t>Adopt a forward‑deployed engineer (FDE) model to accelerate AI outcomes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10789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6F6F"/>
                </a:solidFill>
              </a:rPr>
              <a:t>FDEs bridge domain expertise, data, and AI delivery through embedded partnership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65760" y="978408"/>
            <a:ext cx="11521440" cy="0"/>
          </a:xfrm>
          <a:prstGeom prst="line">
            <a:avLst/>
          </a:prstGeom>
          <a:noFill/>
          <a:ln w="12700">
            <a:solidFill>
              <a:srgbClr val="E8772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612880" y="292608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87722"/>
                </a:solidFill>
              </a:rPr>
              <a:t>2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6492240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F6F"/>
                </a:solidFill>
              </a:rPr>
              <a:t>Optum AI Defense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1645920"/>
            <a:ext cx="2148840" cy="3291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E87722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36192" y="1892808"/>
            <a:ext cx="438912" cy="4389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97280" y="2432304"/>
            <a:ext cx="1325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87722"/>
                </a:solidFill>
              </a:rPr>
              <a:t>1. Embed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850392" y="2926080"/>
            <a:ext cx="73152" cy="73152"/>
          </a:xfrm>
          <a:prstGeom prst="ellipse">
            <a:avLst/>
          </a:prstGeom>
          <a:solidFill>
            <a:srgbClr val="6F6F6F"/>
          </a:solidFill>
          <a:ln w="12700">
            <a:solidFill>
              <a:srgbClr val="6F6F6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5840" y="2852928"/>
            <a:ext cx="16824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333333"/>
                </a:solidFill>
              </a:rPr>
              <a:t>Sit with business / SME teams</a:t>
            </a:r>
            <a:endParaRPr lang="en-US" sz="1080" dirty="0"/>
          </a:p>
        </p:txBody>
      </p:sp>
      <p:sp>
        <p:nvSpPr>
          <p:cNvPr id="12" name="Shape 9"/>
          <p:cNvSpPr/>
          <p:nvPr/>
        </p:nvSpPr>
        <p:spPr>
          <a:xfrm>
            <a:off x="850392" y="3520440"/>
            <a:ext cx="73152" cy="73152"/>
          </a:xfrm>
          <a:prstGeom prst="ellipse">
            <a:avLst/>
          </a:prstGeom>
          <a:solidFill>
            <a:srgbClr val="6F6F6F"/>
          </a:solidFill>
          <a:ln w="12700">
            <a:solidFill>
              <a:srgbClr val="6F6F6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05840" y="3447288"/>
            <a:ext cx="16824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333333"/>
                </a:solidFill>
              </a:rPr>
              <a:t>Understand processes, pain points &amp; success metrics</a:t>
            </a:r>
            <a:endParaRPr lang="en-US" sz="1080" dirty="0"/>
          </a:p>
        </p:txBody>
      </p:sp>
      <p:sp>
        <p:nvSpPr>
          <p:cNvPr id="14" name="Shape 11"/>
          <p:cNvSpPr/>
          <p:nvPr/>
        </p:nvSpPr>
        <p:spPr>
          <a:xfrm>
            <a:off x="850392" y="4114800"/>
            <a:ext cx="73152" cy="73152"/>
          </a:xfrm>
          <a:prstGeom prst="ellipse">
            <a:avLst/>
          </a:prstGeom>
          <a:solidFill>
            <a:srgbClr val="6F6F6F"/>
          </a:solidFill>
          <a:ln w="12700">
            <a:solidFill>
              <a:srgbClr val="6F6F6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05840" y="4041648"/>
            <a:ext cx="16824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333333"/>
                </a:solidFill>
              </a:rPr>
              <a:t>Build trust through day‑to‑day collaboration</a:t>
            </a:r>
            <a:endParaRPr lang="en-US" sz="1080" dirty="0"/>
          </a:p>
        </p:txBody>
      </p:sp>
      <p:sp>
        <p:nvSpPr>
          <p:cNvPr id="16" name="Shape 13"/>
          <p:cNvSpPr/>
          <p:nvPr/>
        </p:nvSpPr>
        <p:spPr>
          <a:xfrm>
            <a:off x="3154680" y="1645920"/>
            <a:ext cx="2148840" cy="3291840"/>
          </a:xfrm>
          <a:prstGeom prst="roundRect">
            <a:avLst>
              <a:gd name="adj" fmla="val 2128"/>
            </a:avLst>
          </a:prstGeom>
          <a:solidFill>
            <a:srgbClr val="FFF6F0"/>
          </a:solidFill>
          <a:ln w="12700">
            <a:solidFill>
              <a:srgbClr val="E87722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05072" y="1892808"/>
            <a:ext cx="438912" cy="43891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566160" y="2432304"/>
            <a:ext cx="1325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87722"/>
                </a:solidFill>
              </a:rPr>
              <a:t>2. Translate</a:t>
            </a:r>
            <a:endParaRPr lang="en-US" sz="1700" dirty="0"/>
          </a:p>
        </p:txBody>
      </p:sp>
      <p:sp>
        <p:nvSpPr>
          <p:cNvPr id="19" name="Shape 15"/>
          <p:cNvSpPr/>
          <p:nvPr/>
        </p:nvSpPr>
        <p:spPr>
          <a:xfrm>
            <a:off x="3319272" y="2926080"/>
            <a:ext cx="73152" cy="73152"/>
          </a:xfrm>
          <a:prstGeom prst="ellipse">
            <a:avLst/>
          </a:prstGeom>
          <a:solidFill>
            <a:srgbClr val="6F6F6F"/>
          </a:solidFill>
          <a:ln w="12700">
            <a:solidFill>
              <a:srgbClr val="6F6F6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3474720" y="2852928"/>
            <a:ext cx="16824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333333"/>
                </a:solidFill>
              </a:rPr>
              <a:t>Convert tacit domain knowledge into data &amp; AI requirements</a:t>
            </a:r>
            <a:endParaRPr lang="en-US" sz="1080" dirty="0"/>
          </a:p>
        </p:txBody>
      </p:sp>
      <p:sp>
        <p:nvSpPr>
          <p:cNvPr id="21" name="Shape 17"/>
          <p:cNvSpPr/>
          <p:nvPr/>
        </p:nvSpPr>
        <p:spPr>
          <a:xfrm>
            <a:off x="3319272" y="3520440"/>
            <a:ext cx="73152" cy="73152"/>
          </a:xfrm>
          <a:prstGeom prst="ellipse">
            <a:avLst/>
          </a:prstGeom>
          <a:solidFill>
            <a:srgbClr val="6F6F6F"/>
          </a:solidFill>
          <a:ln w="12700">
            <a:solidFill>
              <a:srgbClr val="6F6F6F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3474720" y="3447288"/>
            <a:ext cx="16824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333333"/>
                </a:solidFill>
              </a:rPr>
              <a:t>Test signals with data and validation teams</a:t>
            </a:r>
            <a:endParaRPr lang="en-US" sz="1080" dirty="0"/>
          </a:p>
        </p:txBody>
      </p:sp>
      <p:sp>
        <p:nvSpPr>
          <p:cNvPr id="23" name="Shape 19"/>
          <p:cNvSpPr/>
          <p:nvPr/>
        </p:nvSpPr>
        <p:spPr>
          <a:xfrm>
            <a:off x="3319272" y="4114800"/>
            <a:ext cx="73152" cy="73152"/>
          </a:xfrm>
          <a:prstGeom prst="ellipse">
            <a:avLst/>
          </a:prstGeom>
          <a:solidFill>
            <a:srgbClr val="6F6F6F"/>
          </a:solidFill>
          <a:ln w="12700">
            <a:solidFill>
              <a:srgbClr val="6F6F6F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3474720" y="4041648"/>
            <a:ext cx="16824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333333"/>
                </a:solidFill>
              </a:rPr>
              <a:t>Iterate rapidly on use cases</a:t>
            </a:r>
            <a:endParaRPr lang="en-US" sz="1080" dirty="0"/>
          </a:p>
        </p:txBody>
      </p:sp>
      <p:sp>
        <p:nvSpPr>
          <p:cNvPr id="25" name="Shape 21"/>
          <p:cNvSpPr/>
          <p:nvPr/>
        </p:nvSpPr>
        <p:spPr>
          <a:xfrm>
            <a:off x="5623560" y="1645920"/>
            <a:ext cx="2148840" cy="3291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E87722"/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73952" y="1892808"/>
            <a:ext cx="438912" cy="438912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6035040" y="2432304"/>
            <a:ext cx="1325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87722"/>
                </a:solidFill>
              </a:rPr>
              <a:t>3. Industrialize</a:t>
            </a:r>
            <a:endParaRPr lang="en-US" sz="1700" dirty="0"/>
          </a:p>
        </p:txBody>
      </p:sp>
      <p:sp>
        <p:nvSpPr>
          <p:cNvPr id="28" name="Shape 23"/>
          <p:cNvSpPr/>
          <p:nvPr/>
        </p:nvSpPr>
        <p:spPr>
          <a:xfrm>
            <a:off x="5788152" y="2926080"/>
            <a:ext cx="73152" cy="73152"/>
          </a:xfrm>
          <a:prstGeom prst="ellipse">
            <a:avLst/>
          </a:prstGeom>
          <a:solidFill>
            <a:srgbClr val="6F6F6F"/>
          </a:solidFill>
          <a:ln w="12700">
            <a:solidFill>
              <a:srgbClr val="6F6F6F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5943600" y="2852928"/>
            <a:ext cx="16824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333333"/>
                </a:solidFill>
              </a:rPr>
              <a:t>Deploy reusable agentic workflows</a:t>
            </a:r>
            <a:endParaRPr lang="en-US" sz="1080" dirty="0"/>
          </a:p>
        </p:txBody>
      </p:sp>
      <p:sp>
        <p:nvSpPr>
          <p:cNvPr id="30" name="Shape 25"/>
          <p:cNvSpPr/>
          <p:nvPr/>
        </p:nvSpPr>
        <p:spPr>
          <a:xfrm>
            <a:off x="5788152" y="3520440"/>
            <a:ext cx="73152" cy="73152"/>
          </a:xfrm>
          <a:prstGeom prst="ellipse">
            <a:avLst/>
          </a:prstGeom>
          <a:solidFill>
            <a:srgbClr val="6F6F6F"/>
          </a:solidFill>
          <a:ln w="12700">
            <a:solidFill>
              <a:srgbClr val="6F6F6F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5943600" y="3447288"/>
            <a:ext cx="16824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333333"/>
                </a:solidFill>
              </a:rPr>
              <a:t>Measure ROI and adoption</a:t>
            </a:r>
            <a:endParaRPr lang="en-US" sz="1080" dirty="0"/>
          </a:p>
        </p:txBody>
      </p:sp>
      <p:sp>
        <p:nvSpPr>
          <p:cNvPr id="32" name="Shape 27"/>
          <p:cNvSpPr/>
          <p:nvPr/>
        </p:nvSpPr>
        <p:spPr>
          <a:xfrm>
            <a:off x="5788152" y="4114800"/>
            <a:ext cx="73152" cy="73152"/>
          </a:xfrm>
          <a:prstGeom prst="ellipse">
            <a:avLst/>
          </a:prstGeom>
          <a:solidFill>
            <a:srgbClr val="6F6F6F"/>
          </a:solidFill>
          <a:ln w="12700">
            <a:solidFill>
              <a:srgbClr val="6F6F6F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5943600" y="4041648"/>
            <a:ext cx="16824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333333"/>
                </a:solidFill>
              </a:rPr>
              <a:t>Create patterns to scale across domains</a:t>
            </a:r>
            <a:endParaRPr lang="en-US" sz="1080" dirty="0"/>
          </a:p>
        </p:txBody>
      </p:sp>
      <p:sp>
        <p:nvSpPr>
          <p:cNvPr id="34" name="Shape 29"/>
          <p:cNvSpPr/>
          <p:nvPr/>
        </p:nvSpPr>
        <p:spPr>
          <a:xfrm>
            <a:off x="2852928" y="3246120"/>
            <a:ext cx="274320" cy="0"/>
          </a:xfrm>
          <a:prstGeom prst="line">
            <a:avLst/>
          </a:prstGeom>
          <a:noFill/>
          <a:ln w="12700">
            <a:solidFill>
              <a:srgbClr val="E87722"/>
            </a:solidFill>
            <a:prstDash val="solid"/>
            <a:headEnd type="none"/>
            <a:tailEnd type="triangle"/>
          </a:ln>
        </p:spPr>
      </p:sp>
      <p:sp>
        <p:nvSpPr>
          <p:cNvPr id="35" name="Shape 30"/>
          <p:cNvSpPr/>
          <p:nvPr/>
        </p:nvSpPr>
        <p:spPr>
          <a:xfrm>
            <a:off x="5321808" y="3246120"/>
            <a:ext cx="274320" cy="0"/>
          </a:xfrm>
          <a:prstGeom prst="line">
            <a:avLst/>
          </a:prstGeom>
          <a:noFill/>
          <a:ln w="12700">
            <a:solidFill>
              <a:srgbClr val="E87722"/>
            </a:solidFill>
            <a:prstDash val="solid"/>
            <a:headEnd type="none"/>
            <a:tailEnd type="triangle"/>
          </a:ln>
        </p:spPr>
      </p:sp>
      <p:sp>
        <p:nvSpPr>
          <p:cNvPr id="36" name="Shape 31"/>
          <p:cNvSpPr/>
          <p:nvPr/>
        </p:nvSpPr>
        <p:spPr>
          <a:xfrm>
            <a:off x="8183880" y="1664208"/>
            <a:ext cx="3246120" cy="3291840"/>
          </a:xfrm>
          <a:prstGeom prst="roundRect">
            <a:avLst>
              <a:gd name="adj" fmla="val 1408"/>
            </a:avLst>
          </a:prstGeom>
          <a:solidFill>
            <a:srgbClr val="F3F3F3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8412480" y="1938528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What makes FDEs effective</a:t>
            </a:r>
            <a:endParaRPr lang="en-US" sz="1800" dirty="0"/>
          </a:p>
        </p:txBody>
      </p:sp>
      <p:sp>
        <p:nvSpPr>
          <p:cNvPr id="38" name="Shape 33"/>
          <p:cNvSpPr/>
          <p:nvPr/>
        </p:nvSpPr>
        <p:spPr>
          <a:xfrm>
            <a:off x="8412480" y="2651760"/>
            <a:ext cx="2788920" cy="475488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8531352" y="2724912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</a:rPr>
              <a:t>Business context is learned in real time</a:t>
            </a:r>
            <a:endParaRPr lang="en-US" sz="1050" dirty="0"/>
          </a:p>
        </p:txBody>
      </p:sp>
      <p:sp>
        <p:nvSpPr>
          <p:cNvPr id="40" name="Shape 35"/>
          <p:cNvSpPr/>
          <p:nvPr/>
        </p:nvSpPr>
        <p:spPr>
          <a:xfrm>
            <a:off x="8412480" y="3255264"/>
            <a:ext cx="2788920" cy="475488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8531352" y="3328416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</a:rPr>
              <a:t>AI solutions are co‑designed with end users</a:t>
            </a:r>
            <a:endParaRPr lang="en-US" sz="1050" dirty="0"/>
          </a:p>
        </p:txBody>
      </p:sp>
      <p:sp>
        <p:nvSpPr>
          <p:cNvPr id="42" name="Shape 37"/>
          <p:cNvSpPr/>
          <p:nvPr/>
        </p:nvSpPr>
        <p:spPr>
          <a:xfrm>
            <a:off x="8412480" y="3858768"/>
            <a:ext cx="2788920" cy="475488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8531352" y="3931920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</a:rPr>
              <a:t>Faster handoffs across data, validation and engineering</a:t>
            </a:r>
            <a:endParaRPr lang="en-US" sz="1050" dirty="0"/>
          </a:p>
        </p:txBody>
      </p:sp>
      <p:sp>
        <p:nvSpPr>
          <p:cNvPr id="44" name="Shape 39"/>
          <p:cNvSpPr/>
          <p:nvPr/>
        </p:nvSpPr>
        <p:spPr>
          <a:xfrm>
            <a:off x="8412480" y="4462272"/>
            <a:ext cx="2788920" cy="475488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8531352" y="4535424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</a:rPr>
              <a:t>Reusable playbooks improve with each domain</a:t>
            </a:r>
            <a:endParaRPr lang="en-US" sz="1050" dirty="0"/>
          </a:p>
        </p:txBody>
      </p:sp>
      <p:sp>
        <p:nvSpPr>
          <p:cNvPr id="46" name="Text 41"/>
          <p:cNvSpPr/>
          <p:nvPr/>
        </p:nvSpPr>
        <p:spPr>
          <a:xfrm>
            <a:off x="822960" y="5596128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7722"/>
                </a:solidFill>
              </a:rPr>
              <a:t>Result: a repeatable mechanism to surface high‑value use cases and move from discovery to ROI faster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33333"/>
                </a:solidFill>
              </a:rPr>
              <a:t>Operating model: small cross‑functional pods embedded with each domain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10789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6F6F"/>
                </a:solidFill>
              </a:rPr>
              <a:t>A lightweight team structure enables discovery, rapid iteration, and shared accountability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65760" y="978408"/>
            <a:ext cx="11521440" cy="0"/>
          </a:xfrm>
          <a:prstGeom prst="line">
            <a:avLst/>
          </a:prstGeom>
          <a:noFill/>
          <a:ln w="12700">
            <a:solidFill>
              <a:srgbClr val="E8772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612880" y="292608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87722"/>
                </a:solidFill>
              </a:rPr>
              <a:t>3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6492240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F6F"/>
                </a:solidFill>
              </a:rPr>
              <a:t>Optum AI Defense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554480"/>
            <a:ext cx="1828800" cy="502920"/>
          </a:xfrm>
          <a:prstGeom prst="roundRect">
            <a:avLst>
              <a:gd name="adj" fmla="val 5455"/>
            </a:avLst>
          </a:prstGeom>
          <a:solidFill>
            <a:srgbClr val="FFF2E8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636776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3333"/>
                </a:solidFill>
              </a:rPr>
              <a:t>Domain partner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333333"/>
                </a:solidFill>
              </a:rPr>
              <a:t>(Finance / HR / UHC function)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834640" y="1554480"/>
            <a:ext cx="1828800" cy="502920"/>
          </a:xfrm>
          <a:prstGeom prst="roundRect">
            <a:avLst>
              <a:gd name="adj" fmla="val 5455"/>
            </a:avLst>
          </a:prstGeom>
          <a:solidFill>
            <a:srgbClr val="FFE6D1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80360" y="1636776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3333"/>
                </a:solidFill>
              </a:rPr>
              <a:t>Forward‑deployed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333333"/>
                </a:solidFill>
              </a:rPr>
              <a:t>engineer(s)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937760" y="1554480"/>
            <a:ext cx="1828800" cy="502920"/>
          </a:xfrm>
          <a:prstGeom prst="roundRect">
            <a:avLst>
              <a:gd name="adj" fmla="val 5455"/>
            </a:avLst>
          </a:prstGeom>
          <a:solidFill>
            <a:srgbClr val="FFF2E8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83480" y="1636776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3333"/>
                </a:solidFill>
              </a:rPr>
              <a:t>AI Defense /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333333"/>
                </a:solidFill>
              </a:rPr>
              <a:t>agentic platform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040880" y="1554480"/>
            <a:ext cx="1828800" cy="502920"/>
          </a:xfrm>
          <a:prstGeom prst="roundRect">
            <a:avLst>
              <a:gd name="adj" fmla="val 5455"/>
            </a:avLst>
          </a:prstGeom>
          <a:solidFill>
            <a:srgbClr val="F3F3F3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86600" y="1636776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3333"/>
                </a:solidFill>
              </a:rPr>
              <a:t>Data &amp; validation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333333"/>
                </a:solidFill>
              </a:rPr>
              <a:t>partners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144000" y="1554480"/>
            <a:ext cx="2286000" cy="502920"/>
          </a:xfrm>
          <a:prstGeom prst="roundRect">
            <a:avLst>
              <a:gd name="adj" fmla="val 5455"/>
            </a:avLst>
          </a:prstGeom>
          <a:solidFill>
            <a:srgbClr val="F3F3F3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89720" y="1636776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3333"/>
                </a:solidFill>
              </a:rPr>
              <a:t>Leadership /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333333"/>
                </a:solidFill>
              </a:rPr>
              <a:t>governance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77240" y="2468880"/>
            <a:ext cx="1005840" cy="457200"/>
          </a:xfrm>
          <a:prstGeom prst="roundRect">
            <a:avLst>
              <a:gd name="adj" fmla="val 10000"/>
            </a:avLst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2587752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Discover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011680" y="2468880"/>
            <a:ext cx="173736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66544" y="2560320"/>
            <a:ext cx="1627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</a:rPr>
              <a:t>Identify pain points &amp; KPIs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749040" y="2697480"/>
            <a:ext cx="365760" cy="0"/>
          </a:xfrm>
          <a:prstGeom prst="line">
            <a:avLst/>
          </a:prstGeom>
          <a:noFill/>
          <a:ln w="12700">
            <a:solidFill>
              <a:srgbClr val="E87722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114800" y="2468880"/>
            <a:ext cx="173736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69664" y="2560320"/>
            <a:ext cx="1627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</a:rPr>
              <a:t>Observe workflows /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</a:rPr>
              <a:t>collect requirements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852160" y="2697480"/>
            <a:ext cx="365760" cy="0"/>
          </a:xfrm>
          <a:prstGeom prst="line">
            <a:avLst/>
          </a:prstGeom>
          <a:noFill/>
          <a:ln w="12700">
            <a:solidFill>
              <a:srgbClr val="E87722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217920" y="2468880"/>
            <a:ext cx="173736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72784" y="2560320"/>
            <a:ext cx="1627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</a:rPr>
              <a:t>Assess AI /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</a:rPr>
              <a:t>agent patterns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955280" y="2697480"/>
            <a:ext cx="365760" cy="0"/>
          </a:xfrm>
          <a:prstGeom prst="line">
            <a:avLst/>
          </a:prstGeom>
          <a:noFill/>
          <a:ln w="12700">
            <a:solidFill>
              <a:srgbClr val="E87722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8321040" y="2468880"/>
            <a:ext cx="173736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75904" y="2560320"/>
            <a:ext cx="1627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</a:rPr>
              <a:t>Validate available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</a:rPr>
              <a:t>data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10058400" y="2697480"/>
            <a:ext cx="365760" cy="0"/>
          </a:xfrm>
          <a:prstGeom prst="line">
            <a:avLst/>
          </a:prstGeom>
          <a:noFill/>
          <a:ln w="12700">
            <a:solidFill>
              <a:srgbClr val="E87722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10424160" y="2468880"/>
            <a:ext cx="109728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479024" y="2560320"/>
            <a:ext cx="987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</a:rPr>
              <a:t>Prioritize domains /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</a:rPr>
              <a:t>sponsor POC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77240" y="3429000"/>
            <a:ext cx="1005840" cy="457200"/>
          </a:xfrm>
          <a:prstGeom prst="roundRect">
            <a:avLst>
              <a:gd name="adj" fmla="val 10000"/>
            </a:avLst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68680" y="3547872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Prototype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2011680" y="3429000"/>
            <a:ext cx="173736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066544" y="3520440"/>
            <a:ext cx="1627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</a:rPr>
              <a:t>Review early concepts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749040" y="3657600"/>
            <a:ext cx="365760" cy="0"/>
          </a:xfrm>
          <a:prstGeom prst="line">
            <a:avLst/>
          </a:prstGeom>
          <a:noFill/>
          <a:ln w="12700">
            <a:solidFill>
              <a:srgbClr val="E87722"/>
            </a:solidFill>
            <a:prstDash val="solid"/>
            <a:headEnd type="none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4114800" y="3429000"/>
            <a:ext cx="173736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69664" y="3520440"/>
            <a:ext cx="1627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</a:rPr>
              <a:t>Build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</a:rPr>
              <a:t>proof‑of‑concept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852160" y="3657600"/>
            <a:ext cx="365760" cy="0"/>
          </a:xfrm>
          <a:prstGeom prst="line">
            <a:avLst/>
          </a:prstGeom>
          <a:noFill/>
          <a:ln w="12700">
            <a:solidFill>
              <a:srgbClr val="E87722"/>
            </a:solidFill>
            <a:prstDash val="solid"/>
            <a:headEnd type="none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6217920" y="3429000"/>
            <a:ext cx="173736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72784" y="3520440"/>
            <a:ext cx="1627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</a:rPr>
              <a:t>Configure agents /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</a:rPr>
              <a:t>guardrails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7955280" y="3657600"/>
            <a:ext cx="365760" cy="0"/>
          </a:xfrm>
          <a:prstGeom prst="line">
            <a:avLst/>
          </a:prstGeom>
          <a:noFill/>
          <a:ln w="12700">
            <a:solidFill>
              <a:srgbClr val="E87722"/>
            </a:solidFill>
            <a:prstDash val="solid"/>
            <a:headEnd type="none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8321040" y="3429000"/>
            <a:ext cx="173736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375904" y="3520440"/>
            <a:ext cx="1627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</a:rPr>
              <a:t>Test signals &amp;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</a:rPr>
              <a:t>outcomes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10058400" y="3657600"/>
            <a:ext cx="365760" cy="0"/>
          </a:xfrm>
          <a:prstGeom prst="line">
            <a:avLst/>
          </a:prstGeom>
          <a:noFill/>
          <a:ln w="12700">
            <a:solidFill>
              <a:srgbClr val="E87722"/>
            </a:solidFill>
            <a:prstDash val="solid"/>
            <a:headEnd type="none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10424160" y="3429000"/>
            <a:ext cx="109728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0479024" y="3520440"/>
            <a:ext cx="987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</a:rPr>
              <a:t>Approve success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</a:rPr>
              <a:t>criteria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777240" y="4389120"/>
            <a:ext cx="1005840" cy="457200"/>
          </a:xfrm>
          <a:prstGeom prst="roundRect">
            <a:avLst>
              <a:gd name="adj" fmla="val 10000"/>
            </a:avLst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68680" y="4507992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Scale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2011680" y="4389120"/>
            <a:ext cx="173736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066544" y="4480560"/>
            <a:ext cx="1627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</a:rPr>
              <a:t>Adopt new workflow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3749040" y="4617720"/>
            <a:ext cx="365760" cy="0"/>
          </a:xfrm>
          <a:prstGeom prst="line">
            <a:avLst/>
          </a:prstGeom>
          <a:noFill/>
          <a:ln w="12700">
            <a:solidFill>
              <a:srgbClr val="E87722"/>
            </a:solidFill>
            <a:prstDash val="solid"/>
            <a:headEnd type="none"/>
            <a:tailEnd type="triangle"/>
          </a:ln>
        </p:spPr>
      </p:sp>
      <p:sp>
        <p:nvSpPr>
          <p:cNvPr id="54" name="Shape 52"/>
          <p:cNvSpPr/>
          <p:nvPr/>
        </p:nvSpPr>
        <p:spPr>
          <a:xfrm>
            <a:off x="4114800" y="4389120"/>
            <a:ext cx="173736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169664" y="4480560"/>
            <a:ext cx="1627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</a:rPr>
              <a:t>Train users / refine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5852160" y="4617720"/>
            <a:ext cx="365760" cy="0"/>
          </a:xfrm>
          <a:prstGeom prst="line">
            <a:avLst/>
          </a:prstGeom>
          <a:noFill/>
          <a:ln w="12700">
            <a:solidFill>
              <a:srgbClr val="E87722"/>
            </a:solidFill>
            <a:prstDash val="solid"/>
            <a:headEnd type="none"/>
            <a:tailEnd type="triangle"/>
          </a:ln>
        </p:spPr>
      </p:sp>
      <p:sp>
        <p:nvSpPr>
          <p:cNvPr id="57" name="Shape 55"/>
          <p:cNvSpPr/>
          <p:nvPr/>
        </p:nvSpPr>
        <p:spPr>
          <a:xfrm>
            <a:off x="6217920" y="4389120"/>
            <a:ext cx="173736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272784" y="4480560"/>
            <a:ext cx="1627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</a:rPr>
              <a:t>Productionize &amp;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</a:rPr>
              <a:t>monitor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7955280" y="4617720"/>
            <a:ext cx="365760" cy="0"/>
          </a:xfrm>
          <a:prstGeom prst="line">
            <a:avLst/>
          </a:prstGeom>
          <a:noFill/>
          <a:ln w="12700">
            <a:solidFill>
              <a:srgbClr val="E87722"/>
            </a:solidFill>
            <a:prstDash val="solid"/>
            <a:headEnd type="none"/>
            <a:tailEnd type="triangle"/>
          </a:ln>
        </p:spPr>
      </p:sp>
      <p:sp>
        <p:nvSpPr>
          <p:cNvPr id="60" name="Shape 58"/>
          <p:cNvSpPr/>
          <p:nvPr/>
        </p:nvSpPr>
        <p:spPr>
          <a:xfrm>
            <a:off x="8321040" y="4389120"/>
            <a:ext cx="173736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375904" y="4480560"/>
            <a:ext cx="1627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</a:rPr>
              <a:t>Track performance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10058400" y="4617720"/>
            <a:ext cx="365760" cy="0"/>
          </a:xfrm>
          <a:prstGeom prst="line">
            <a:avLst/>
          </a:prstGeom>
          <a:noFill/>
          <a:ln w="12700">
            <a:solidFill>
              <a:srgbClr val="E87722"/>
            </a:solidFill>
            <a:prstDash val="solid"/>
            <a:headEnd type="none"/>
            <a:tailEnd type="triangle"/>
          </a:ln>
        </p:spPr>
      </p:sp>
      <p:sp>
        <p:nvSpPr>
          <p:cNvPr id="63" name="Shape 61"/>
          <p:cNvSpPr/>
          <p:nvPr/>
        </p:nvSpPr>
        <p:spPr>
          <a:xfrm>
            <a:off x="10424160" y="4389120"/>
            <a:ext cx="109728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0479024" y="4480560"/>
            <a:ext cx="987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</a:rPr>
              <a:t>Fund expansion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822960" y="5532120"/>
            <a:ext cx="10835640" cy="594360"/>
          </a:xfrm>
          <a:prstGeom prst="roundRect">
            <a:avLst>
              <a:gd name="adj" fmla="val 4615"/>
            </a:avLst>
          </a:prstGeom>
          <a:solidFill>
            <a:srgbClr val="F3F3F3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005840" y="5715000"/>
            <a:ext cx="10424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33333"/>
                </a:solidFill>
              </a:rPr>
              <a:t>Governance cadence: weekly working sessions with domain teams; bi‑weekly readouts with leadership; clear ROI tracking and decision gates for scale‑up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33333"/>
                </a:solidFill>
              </a:rPr>
              <a:t>Launch with a 16‑week proof of concept, then scale based on value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10789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6F6F"/>
                </a:solidFill>
              </a:rPr>
              <a:t>A time‑boxed pilot helps validate use cases, ROI, and the operating model before broader rollout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65760" y="978408"/>
            <a:ext cx="11521440" cy="0"/>
          </a:xfrm>
          <a:prstGeom prst="line">
            <a:avLst/>
          </a:prstGeom>
          <a:noFill/>
          <a:ln w="12700">
            <a:solidFill>
              <a:srgbClr val="E8772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612880" y="292608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87722"/>
                </a:solidFill>
              </a:rPr>
              <a:t>4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6492240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F6F"/>
                </a:solidFill>
              </a:rPr>
              <a:t>Optum AI Defense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94360" y="1463040"/>
            <a:ext cx="2331720" cy="4389120"/>
          </a:xfrm>
          <a:prstGeom prst="roundRect">
            <a:avLst>
              <a:gd name="adj" fmla="val 1569"/>
            </a:avLst>
          </a:prstGeom>
          <a:solidFill>
            <a:srgbClr val="F3F3F3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81051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33333"/>
                </a:solidFill>
              </a:rPr>
              <a:t>POC setup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868680" y="2212848"/>
            <a:ext cx="1554480" cy="310896"/>
          </a:xfrm>
          <a:prstGeom prst="roundRect">
            <a:avLst>
              <a:gd name="adj" fmla="val 8824"/>
            </a:avLst>
          </a:prstGeom>
          <a:solidFill>
            <a:srgbClr val="FFF2E8"/>
          </a:solidFill>
          <a:ln w="12700">
            <a:solidFill>
              <a:srgbClr val="FFF2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23544" y="2258568"/>
            <a:ext cx="14447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7722"/>
                </a:solidFill>
              </a:rPr>
              <a:t>1–2 target domains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68680" y="2633472"/>
            <a:ext cx="1554480" cy="310896"/>
          </a:xfrm>
          <a:prstGeom prst="roundRect">
            <a:avLst>
              <a:gd name="adj" fmla="val 8824"/>
            </a:avLst>
          </a:prstGeom>
          <a:solidFill>
            <a:srgbClr val="FFF2E8"/>
          </a:solidFill>
          <a:ln w="12700">
            <a:solidFill>
              <a:srgbClr val="FFF2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23544" y="2679192"/>
            <a:ext cx="14447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7722"/>
                </a:solidFill>
              </a:rPr>
              <a:t>1–2 FDEs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68680" y="3054096"/>
            <a:ext cx="1554480" cy="310896"/>
          </a:xfrm>
          <a:prstGeom prst="roundRect">
            <a:avLst>
              <a:gd name="adj" fmla="val 8824"/>
            </a:avLst>
          </a:prstGeom>
          <a:solidFill>
            <a:srgbClr val="FFF2E8"/>
          </a:solidFill>
          <a:ln w="12700">
            <a:solidFill>
              <a:srgbClr val="FFF2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3544" y="3099816"/>
            <a:ext cx="14447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7722"/>
                </a:solidFill>
              </a:rPr>
              <a:t>Shared SME access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68680" y="3474720"/>
            <a:ext cx="1554480" cy="310896"/>
          </a:xfrm>
          <a:prstGeom prst="roundRect">
            <a:avLst>
              <a:gd name="adj" fmla="val 8824"/>
            </a:avLst>
          </a:prstGeom>
          <a:solidFill>
            <a:srgbClr val="FFF2E8"/>
          </a:solidFill>
          <a:ln w="12700">
            <a:solidFill>
              <a:srgbClr val="FFF2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3544" y="3520440"/>
            <a:ext cx="14447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7722"/>
                </a:solidFill>
              </a:rPr>
              <a:t>Data &amp; validation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E87722"/>
                </a:solidFill>
              </a:rPr>
              <a:t>support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68680" y="3895344"/>
            <a:ext cx="1554480" cy="310896"/>
          </a:xfrm>
          <a:prstGeom prst="roundRect">
            <a:avLst>
              <a:gd name="adj" fmla="val 8824"/>
            </a:avLst>
          </a:prstGeom>
          <a:solidFill>
            <a:srgbClr val="FFF2E8"/>
          </a:solidFill>
          <a:ln w="12700">
            <a:solidFill>
              <a:srgbClr val="FFF2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3544" y="3941064"/>
            <a:ext cx="14447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7722"/>
                </a:solidFill>
              </a:rPr>
              <a:t>Leadership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E87722"/>
                </a:solidFill>
              </a:rPr>
              <a:t>sponsor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" y="4370832"/>
            <a:ext cx="1234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7722"/>
                </a:solidFill>
              </a:rPr>
              <a:t>Success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E87722"/>
                </a:solidFill>
              </a:rPr>
              <a:t>metrics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914400" y="4882896"/>
            <a:ext cx="73152" cy="73152"/>
          </a:xfrm>
          <a:prstGeom prst="ellipse">
            <a:avLst/>
          </a:prstGeom>
          <a:solidFill>
            <a:srgbClr val="6F6F6F"/>
          </a:solidFill>
          <a:ln w="12700">
            <a:solidFill>
              <a:srgbClr val="6F6F6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33856" y="4809744"/>
            <a:ext cx="12618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</a:rPr>
              <a:t>Use cases surfaced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14400" y="5212080"/>
            <a:ext cx="73152" cy="73152"/>
          </a:xfrm>
          <a:prstGeom prst="ellipse">
            <a:avLst/>
          </a:prstGeom>
          <a:solidFill>
            <a:srgbClr val="6F6F6F"/>
          </a:solidFill>
          <a:ln w="12700">
            <a:solidFill>
              <a:srgbClr val="6F6F6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33856" y="5138928"/>
            <a:ext cx="12618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</a:rPr>
              <a:t>Cycle‑time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</a:rPr>
              <a:t>reduction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14400" y="5541264"/>
            <a:ext cx="73152" cy="73152"/>
          </a:xfrm>
          <a:prstGeom prst="ellipse">
            <a:avLst/>
          </a:prstGeom>
          <a:solidFill>
            <a:srgbClr val="6F6F6F"/>
          </a:solidFill>
          <a:ln w="12700">
            <a:solidFill>
              <a:srgbClr val="6F6F6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33856" y="5468112"/>
            <a:ext cx="12618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</a:rPr>
              <a:t>Value / savings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</a:rPr>
              <a:t>identified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914400" y="5870448"/>
            <a:ext cx="73152" cy="73152"/>
          </a:xfrm>
          <a:prstGeom prst="ellipse">
            <a:avLst/>
          </a:prstGeom>
          <a:solidFill>
            <a:srgbClr val="6F6F6F"/>
          </a:solidFill>
          <a:ln w="12700">
            <a:solidFill>
              <a:srgbClr val="6F6F6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33856" y="5797296"/>
            <a:ext cx="12618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</a:rPr>
              <a:t>Adoption and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</a:rPr>
              <a:t>feasibility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337560" y="1344168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33333"/>
                </a:solidFill>
              </a:rPr>
              <a:t>Indicative 16‑week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333333"/>
                </a:solidFill>
              </a:rPr>
              <a:t>timeline</a:t>
            </a:r>
            <a:endParaRPr lang="en-US" sz="1900" dirty="0"/>
          </a:p>
        </p:txBody>
      </p:sp>
      <p:sp>
        <p:nvSpPr>
          <p:cNvPr id="29" name="Shape 27"/>
          <p:cNvSpPr/>
          <p:nvPr/>
        </p:nvSpPr>
        <p:spPr>
          <a:xfrm>
            <a:off x="3154680" y="1737360"/>
            <a:ext cx="19202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91840" y="1847088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</a:rPr>
              <a:t>Workstream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074920" y="1737360"/>
            <a:ext cx="411480" cy="411480"/>
          </a:xfrm>
          <a:prstGeom prst="rect">
            <a:avLst/>
          </a:prstGeom>
          <a:solidFill>
            <a:srgbClr val="EFE6DE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74920" y="1847088"/>
            <a:ext cx="411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3333"/>
                </a:solidFill>
              </a:rPr>
              <a:t>1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486400" y="1737360"/>
            <a:ext cx="411480" cy="411480"/>
          </a:xfrm>
          <a:prstGeom prst="rect">
            <a:avLst/>
          </a:prstGeom>
          <a:solidFill>
            <a:srgbClr val="EFE6DE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0" y="1847088"/>
            <a:ext cx="411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3333"/>
                </a:solidFill>
              </a:rPr>
              <a:t>2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897880" y="1737360"/>
            <a:ext cx="411480" cy="411480"/>
          </a:xfrm>
          <a:prstGeom prst="rect">
            <a:avLst/>
          </a:prstGeom>
          <a:solidFill>
            <a:srgbClr val="EFE6DE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97880" y="1847088"/>
            <a:ext cx="411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3333"/>
                </a:solidFill>
              </a:rPr>
              <a:t>3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309360" y="1737360"/>
            <a:ext cx="411480" cy="411480"/>
          </a:xfrm>
          <a:prstGeom prst="rect">
            <a:avLst/>
          </a:prstGeom>
          <a:solidFill>
            <a:srgbClr val="EFE6DE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09360" y="1847088"/>
            <a:ext cx="411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3333"/>
                </a:solidFill>
              </a:rPr>
              <a:t>4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720840" y="1737360"/>
            <a:ext cx="411480" cy="411480"/>
          </a:xfrm>
          <a:prstGeom prst="rect">
            <a:avLst/>
          </a:prstGeom>
          <a:solidFill>
            <a:srgbClr val="EFE6DE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720840" y="1847088"/>
            <a:ext cx="411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3333"/>
                </a:solidFill>
              </a:rPr>
              <a:t>5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7132320" y="1737360"/>
            <a:ext cx="411480" cy="411480"/>
          </a:xfrm>
          <a:prstGeom prst="rect">
            <a:avLst/>
          </a:prstGeom>
          <a:solidFill>
            <a:srgbClr val="EFE6DE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132320" y="1847088"/>
            <a:ext cx="411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3333"/>
                </a:solidFill>
              </a:rPr>
              <a:t>6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543800" y="1737360"/>
            <a:ext cx="411480" cy="411480"/>
          </a:xfrm>
          <a:prstGeom prst="rect">
            <a:avLst/>
          </a:prstGeom>
          <a:solidFill>
            <a:srgbClr val="EFE6DE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543800" y="1847088"/>
            <a:ext cx="411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3333"/>
                </a:solidFill>
              </a:rPr>
              <a:t>7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7955280" y="1737360"/>
            <a:ext cx="411480" cy="411480"/>
          </a:xfrm>
          <a:prstGeom prst="rect">
            <a:avLst/>
          </a:prstGeom>
          <a:solidFill>
            <a:srgbClr val="EFE6DE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955280" y="1847088"/>
            <a:ext cx="411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3333"/>
                </a:solidFill>
              </a:rPr>
              <a:t>8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8366760" y="1737360"/>
            <a:ext cx="411480" cy="411480"/>
          </a:xfrm>
          <a:prstGeom prst="rect">
            <a:avLst/>
          </a:prstGeom>
          <a:solidFill>
            <a:srgbClr val="EFE6DE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366760" y="1847088"/>
            <a:ext cx="411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3333"/>
                </a:solidFill>
              </a:rPr>
              <a:t>9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8778240" y="1737360"/>
            <a:ext cx="411480" cy="411480"/>
          </a:xfrm>
          <a:prstGeom prst="rect">
            <a:avLst/>
          </a:prstGeom>
          <a:solidFill>
            <a:srgbClr val="EFE6DE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778240" y="1847088"/>
            <a:ext cx="411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3333"/>
                </a:solidFill>
              </a:rPr>
              <a:t>10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9189720" y="1737360"/>
            <a:ext cx="411480" cy="411480"/>
          </a:xfrm>
          <a:prstGeom prst="rect">
            <a:avLst/>
          </a:prstGeom>
          <a:solidFill>
            <a:srgbClr val="EFE6DE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189720" y="1847088"/>
            <a:ext cx="411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3333"/>
                </a:solidFill>
              </a:rPr>
              <a:t>11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9601200" y="1737360"/>
            <a:ext cx="411480" cy="411480"/>
          </a:xfrm>
          <a:prstGeom prst="rect">
            <a:avLst/>
          </a:prstGeom>
          <a:solidFill>
            <a:srgbClr val="EFE6DE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601200" y="1847088"/>
            <a:ext cx="411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3333"/>
                </a:solidFill>
              </a:rPr>
              <a:t>12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10012680" y="1737360"/>
            <a:ext cx="411480" cy="411480"/>
          </a:xfrm>
          <a:prstGeom prst="rect">
            <a:avLst/>
          </a:prstGeom>
          <a:solidFill>
            <a:srgbClr val="EFE6DE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0012680" y="1847088"/>
            <a:ext cx="411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3333"/>
                </a:solidFill>
              </a:rPr>
              <a:t>13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10424160" y="1737360"/>
            <a:ext cx="411480" cy="411480"/>
          </a:xfrm>
          <a:prstGeom prst="rect">
            <a:avLst/>
          </a:prstGeom>
          <a:solidFill>
            <a:srgbClr val="EFE6DE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0424160" y="1847088"/>
            <a:ext cx="411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3333"/>
                </a:solidFill>
              </a:rPr>
              <a:t>14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10835640" y="1737360"/>
            <a:ext cx="411480" cy="411480"/>
          </a:xfrm>
          <a:prstGeom prst="rect">
            <a:avLst/>
          </a:prstGeom>
          <a:solidFill>
            <a:srgbClr val="EFE6DE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0835640" y="1847088"/>
            <a:ext cx="411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3333"/>
                </a:solidFill>
              </a:rPr>
              <a:t>15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11247120" y="1737360"/>
            <a:ext cx="411480" cy="411480"/>
          </a:xfrm>
          <a:prstGeom prst="rect">
            <a:avLst/>
          </a:prstGeom>
          <a:solidFill>
            <a:srgbClr val="EFE6DE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1247120" y="1847088"/>
            <a:ext cx="411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3333"/>
                </a:solidFill>
              </a:rPr>
              <a:t>16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3154680" y="2148840"/>
            <a:ext cx="19202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291840" y="2295144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Kickoff &amp; domain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immersion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5074920" y="2148840"/>
            <a:ext cx="411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486400" y="2148840"/>
            <a:ext cx="411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897880" y="2148840"/>
            <a:ext cx="411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309360" y="2148840"/>
            <a:ext cx="411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720840" y="2148840"/>
            <a:ext cx="411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132320" y="2148840"/>
            <a:ext cx="411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543800" y="2148840"/>
            <a:ext cx="411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955280" y="2148840"/>
            <a:ext cx="411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366760" y="2148840"/>
            <a:ext cx="411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8778240" y="2148840"/>
            <a:ext cx="411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9189720" y="2148840"/>
            <a:ext cx="411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9601200" y="2148840"/>
            <a:ext cx="411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0012680" y="2148840"/>
            <a:ext cx="411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0424160" y="2148840"/>
            <a:ext cx="411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0835640" y="2148840"/>
            <a:ext cx="411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1247120" y="2148840"/>
            <a:ext cx="411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5111496" y="2258568"/>
            <a:ext cx="1161288" cy="347472"/>
          </a:xfrm>
          <a:prstGeom prst="roundRect">
            <a:avLst>
              <a:gd name="adj" fmla="val 7895"/>
            </a:avLst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3154680" y="2715768"/>
            <a:ext cx="19202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3291840" y="2862072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Use‑case discovery 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prioritization</a:t>
            </a:r>
            <a:endParaRPr lang="en-US" sz="1100" dirty="0"/>
          </a:p>
        </p:txBody>
      </p:sp>
      <p:sp>
        <p:nvSpPr>
          <p:cNvPr id="84" name="Shape 82"/>
          <p:cNvSpPr/>
          <p:nvPr/>
        </p:nvSpPr>
        <p:spPr>
          <a:xfrm>
            <a:off x="5074920" y="2715768"/>
            <a:ext cx="411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5486400" y="2715768"/>
            <a:ext cx="411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5897880" y="2715768"/>
            <a:ext cx="411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6309360" y="2715768"/>
            <a:ext cx="411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6720840" y="2715768"/>
            <a:ext cx="411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7132320" y="2715768"/>
            <a:ext cx="411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7543800" y="2715768"/>
            <a:ext cx="411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7955280" y="2715768"/>
            <a:ext cx="411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8366760" y="2715768"/>
            <a:ext cx="411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8778240" y="2715768"/>
            <a:ext cx="411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9189720" y="2715768"/>
            <a:ext cx="411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9601200" y="2715768"/>
            <a:ext cx="411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10012680" y="2715768"/>
            <a:ext cx="411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10424160" y="2715768"/>
            <a:ext cx="411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10835640" y="2715768"/>
            <a:ext cx="411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11247120" y="2715768"/>
            <a:ext cx="411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5522976" y="2825496"/>
            <a:ext cx="1572768" cy="347472"/>
          </a:xfrm>
          <a:prstGeom prst="roundRect">
            <a:avLst>
              <a:gd name="adj" fmla="val 7895"/>
            </a:avLst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3154680" y="3282696"/>
            <a:ext cx="19202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3291840" y="3429000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Data access &amp; signal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validation</a:t>
            </a:r>
            <a:endParaRPr lang="en-US" sz="1100" dirty="0"/>
          </a:p>
        </p:txBody>
      </p:sp>
      <p:sp>
        <p:nvSpPr>
          <p:cNvPr id="103" name="Shape 101"/>
          <p:cNvSpPr/>
          <p:nvPr/>
        </p:nvSpPr>
        <p:spPr>
          <a:xfrm>
            <a:off x="5074920" y="3282696"/>
            <a:ext cx="411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5486400" y="3282696"/>
            <a:ext cx="411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5897880" y="3282696"/>
            <a:ext cx="411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6309360" y="3282696"/>
            <a:ext cx="411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6720840" y="3282696"/>
            <a:ext cx="411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7132320" y="3282696"/>
            <a:ext cx="411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7543800" y="3282696"/>
            <a:ext cx="411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7955280" y="3282696"/>
            <a:ext cx="411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8366760" y="3282696"/>
            <a:ext cx="411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8778240" y="3282696"/>
            <a:ext cx="411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9189720" y="3282696"/>
            <a:ext cx="411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9601200" y="3282696"/>
            <a:ext cx="411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10012680" y="3282696"/>
            <a:ext cx="411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10424160" y="3282696"/>
            <a:ext cx="411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10835640" y="3282696"/>
            <a:ext cx="411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11247120" y="3282696"/>
            <a:ext cx="411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5934456" y="3392424"/>
            <a:ext cx="2395728" cy="347472"/>
          </a:xfrm>
          <a:prstGeom prst="roundRect">
            <a:avLst>
              <a:gd name="adj" fmla="val 7895"/>
            </a:avLst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3154680" y="3849624"/>
            <a:ext cx="19202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3291840" y="3995928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Prototype / agent build</a:t>
            </a:r>
            <a:endParaRPr lang="en-US" sz="1100" dirty="0"/>
          </a:p>
        </p:txBody>
      </p:sp>
      <p:sp>
        <p:nvSpPr>
          <p:cNvPr id="122" name="Shape 120"/>
          <p:cNvSpPr/>
          <p:nvPr/>
        </p:nvSpPr>
        <p:spPr>
          <a:xfrm>
            <a:off x="5074920" y="3849624"/>
            <a:ext cx="411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5486400" y="3849624"/>
            <a:ext cx="411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5897880" y="3849624"/>
            <a:ext cx="411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6309360" y="3849624"/>
            <a:ext cx="411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6720840" y="3849624"/>
            <a:ext cx="411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7132320" y="3849624"/>
            <a:ext cx="411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7543800" y="3849624"/>
            <a:ext cx="411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7955280" y="3849624"/>
            <a:ext cx="411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8366760" y="3849624"/>
            <a:ext cx="411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8778240" y="3849624"/>
            <a:ext cx="411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9189720" y="3849624"/>
            <a:ext cx="411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9601200" y="3849624"/>
            <a:ext cx="411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10012680" y="3849624"/>
            <a:ext cx="411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10424160" y="3849624"/>
            <a:ext cx="411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10835640" y="3849624"/>
            <a:ext cx="411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11247120" y="3849624"/>
            <a:ext cx="411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7168896" y="3959352"/>
            <a:ext cx="1984248" cy="347472"/>
          </a:xfrm>
          <a:prstGeom prst="roundRect">
            <a:avLst>
              <a:gd name="adj" fmla="val 7895"/>
            </a:avLst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3154680" y="4416552"/>
            <a:ext cx="19202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3291840" y="4562856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Pilot execution &amp;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refinement</a:t>
            </a:r>
            <a:endParaRPr lang="en-US" sz="1100" dirty="0"/>
          </a:p>
        </p:txBody>
      </p:sp>
      <p:sp>
        <p:nvSpPr>
          <p:cNvPr id="141" name="Shape 139"/>
          <p:cNvSpPr/>
          <p:nvPr/>
        </p:nvSpPr>
        <p:spPr>
          <a:xfrm>
            <a:off x="5074920" y="4416552"/>
            <a:ext cx="411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5486400" y="4416552"/>
            <a:ext cx="411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5897880" y="4416552"/>
            <a:ext cx="411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6309360" y="4416552"/>
            <a:ext cx="411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6720840" y="4416552"/>
            <a:ext cx="411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7132320" y="4416552"/>
            <a:ext cx="411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7543800" y="4416552"/>
            <a:ext cx="411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7955280" y="4416552"/>
            <a:ext cx="411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8366760" y="4416552"/>
            <a:ext cx="411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8778240" y="4416552"/>
            <a:ext cx="411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9189720" y="4416552"/>
            <a:ext cx="411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9601200" y="4416552"/>
            <a:ext cx="411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10012680" y="4416552"/>
            <a:ext cx="411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10424160" y="4416552"/>
            <a:ext cx="411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10835640" y="4416552"/>
            <a:ext cx="411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11247120" y="4416552"/>
            <a:ext cx="411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9226296" y="4526280"/>
            <a:ext cx="1572768" cy="347472"/>
          </a:xfrm>
          <a:prstGeom prst="roundRect">
            <a:avLst>
              <a:gd name="adj" fmla="val 7895"/>
            </a:avLst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3154680" y="4983480"/>
            <a:ext cx="19202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59" name="Text 157"/>
          <p:cNvSpPr/>
          <p:nvPr/>
        </p:nvSpPr>
        <p:spPr>
          <a:xfrm>
            <a:off x="3291840" y="5129784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ROI assessment &amp; scale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decision</a:t>
            </a:r>
            <a:endParaRPr lang="en-US" sz="1100" dirty="0"/>
          </a:p>
        </p:txBody>
      </p:sp>
      <p:sp>
        <p:nvSpPr>
          <p:cNvPr id="160" name="Shape 158"/>
          <p:cNvSpPr/>
          <p:nvPr/>
        </p:nvSpPr>
        <p:spPr>
          <a:xfrm>
            <a:off x="5074920" y="4983480"/>
            <a:ext cx="411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5486400" y="4983480"/>
            <a:ext cx="411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5897880" y="4983480"/>
            <a:ext cx="411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6309360" y="4983480"/>
            <a:ext cx="411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6720840" y="4983480"/>
            <a:ext cx="411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7132320" y="4983480"/>
            <a:ext cx="411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7543800" y="4983480"/>
            <a:ext cx="411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7955280" y="4983480"/>
            <a:ext cx="411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8366760" y="4983480"/>
            <a:ext cx="411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8778240" y="4983480"/>
            <a:ext cx="411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9189720" y="4983480"/>
            <a:ext cx="411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9601200" y="4983480"/>
            <a:ext cx="411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10012680" y="4983480"/>
            <a:ext cx="411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10424160" y="4983480"/>
            <a:ext cx="411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10835640" y="4983480"/>
            <a:ext cx="411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11247120" y="4983480"/>
            <a:ext cx="411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10872216" y="5093208"/>
            <a:ext cx="749808" cy="347472"/>
          </a:xfrm>
          <a:prstGeom prst="roundRect">
            <a:avLst>
              <a:gd name="adj" fmla="val 7895"/>
            </a:avLst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3246120" y="5715000"/>
            <a:ext cx="8275320" cy="310896"/>
          </a:xfrm>
          <a:prstGeom prst="roundRect">
            <a:avLst>
              <a:gd name="adj" fmla="val 5882"/>
            </a:avLst>
          </a:prstGeom>
          <a:solidFill>
            <a:srgbClr val="FFE6D1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178" name="Text 176"/>
          <p:cNvSpPr/>
          <p:nvPr/>
        </p:nvSpPr>
        <p:spPr>
          <a:xfrm>
            <a:off x="3474720" y="5788152"/>
            <a:ext cx="78181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333"/>
                </a:solidFill>
              </a:rPr>
              <a:t>Decision gate → expand to additional domains / FDE pods if POC demonstrates measurable value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33333"/>
                </a:solidFill>
              </a:rPr>
              <a:t>Approve an FDE pilot to scale AI innovation across UHC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10789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6F6F"/>
                </a:solidFill>
              </a:rPr>
              <a:t>Leadership sponsorship can convert today’s point success into a repeatable enterprise capability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65760" y="978408"/>
            <a:ext cx="11521440" cy="0"/>
          </a:xfrm>
          <a:prstGeom prst="line">
            <a:avLst/>
          </a:prstGeom>
          <a:noFill/>
          <a:ln w="12700">
            <a:solidFill>
              <a:srgbClr val="E8772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612880" y="292608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87722"/>
                </a:solidFill>
              </a:rPr>
              <a:t>5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6492240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F6F"/>
                </a:solidFill>
              </a:rPr>
              <a:t>Optum AI Defense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77240" y="1645920"/>
            <a:ext cx="2788920" cy="3611880"/>
          </a:xfrm>
          <a:prstGeom prst="roundRect">
            <a:avLst>
              <a:gd name="adj" fmla="val 1639"/>
            </a:avLst>
          </a:prstGeom>
          <a:solidFill>
            <a:srgbClr val="FFF6F0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901952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7722"/>
                </a:solidFill>
              </a:rPr>
              <a:t>What UHC gains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78408" y="2523744"/>
            <a:ext cx="73152" cy="73152"/>
          </a:xfrm>
          <a:prstGeom prst="ellipse">
            <a:avLst/>
          </a:prstGeom>
          <a:solidFill>
            <a:srgbClr val="6F6F6F"/>
          </a:solidFill>
          <a:ln w="12700">
            <a:solidFill>
              <a:srgbClr val="6F6F6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24712" y="2450592"/>
            <a:ext cx="22128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</a:rPr>
              <a:t>Replicate AI Defense success in Finance, HR and other functions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978408" y="3145536"/>
            <a:ext cx="73152" cy="73152"/>
          </a:xfrm>
          <a:prstGeom prst="ellipse">
            <a:avLst/>
          </a:prstGeom>
          <a:solidFill>
            <a:srgbClr val="6F6F6F"/>
          </a:solidFill>
          <a:ln w="12700">
            <a:solidFill>
              <a:srgbClr val="6F6F6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24712" y="3072384"/>
            <a:ext cx="22128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</a:rPr>
              <a:t>Surface high‑value use cases faster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78408" y="3767328"/>
            <a:ext cx="73152" cy="73152"/>
          </a:xfrm>
          <a:prstGeom prst="ellipse">
            <a:avLst/>
          </a:prstGeom>
          <a:solidFill>
            <a:srgbClr val="6F6F6F"/>
          </a:solidFill>
          <a:ln w="12700">
            <a:solidFill>
              <a:srgbClr val="6F6F6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24712" y="3694176"/>
            <a:ext cx="22128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</a:rPr>
              <a:t>Increase adoption through hands‑on partnership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78408" y="4389120"/>
            <a:ext cx="73152" cy="73152"/>
          </a:xfrm>
          <a:prstGeom prst="ellipse">
            <a:avLst/>
          </a:prstGeom>
          <a:solidFill>
            <a:srgbClr val="6F6F6F"/>
          </a:solidFill>
          <a:ln w="12700">
            <a:solidFill>
              <a:srgbClr val="6F6F6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24712" y="4315968"/>
            <a:ext cx="22128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</a:rPr>
              <a:t>Create reusable AI patterns across domains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041648" y="1645920"/>
            <a:ext cx="2788920" cy="3611880"/>
          </a:xfrm>
          <a:prstGeom prst="roundRect">
            <a:avLst>
              <a:gd name="adj" fmla="val 1639"/>
            </a:avLst>
          </a:prstGeom>
          <a:solidFill>
            <a:srgbClr val="F3F3F3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24528" y="1901952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What we need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242816" y="2523744"/>
            <a:ext cx="73152" cy="73152"/>
          </a:xfrm>
          <a:prstGeom prst="ellipse">
            <a:avLst/>
          </a:prstGeom>
          <a:solidFill>
            <a:srgbClr val="6F6F6F"/>
          </a:solidFill>
          <a:ln w="12700">
            <a:solidFill>
              <a:srgbClr val="6F6F6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0" y="2450592"/>
            <a:ext cx="22128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</a:rPr>
              <a:t>Executive sponsorship for a 16‑week POC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242816" y="3145536"/>
            <a:ext cx="73152" cy="73152"/>
          </a:xfrm>
          <a:prstGeom prst="ellipse">
            <a:avLst/>
          </a:prstGeom>
          <a:solidFill>
            <a:srgbClr val="6F6F6F"/>
          </a:solidFill>
          <a:ln w="12700">
            <a:solidFill>
              <a:srgbClr val="6F6F6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0" y="3072384"/>
            <a:ext cx="22128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</a:rPr>
              <a:t>1–2 target domains with SME access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242816" y="3767328"/>
            <a:ext cx="73152" cy="73152"/>
          </a:xfrm>
          <a:prstGeom prst="ellipse">
            <a:avLst/>
          </a:prstGeom>
          <a:solidFill>
            <a:srgbClr val="6F6F6F"/>
          </a:solidFill>
          <a:ln w="12700">
            <a:solidFill>
              <a:srgbClr val="6F6F6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89120" y="3694176"/>
            <a:ext cx="22128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</a:rPr>
              <a:t>1–2 embedded FDEs plus data / validation support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242816" y="4389120"/>
            <a:ext cx="73152" cy="73152"/>
          </a:xfrm>
          <a:prstGeom prst="ellipse">
            <a:avLst/>
          </a:prstGeom>
          <a:solidFill>
            <a:srgbClr val="6F6F6F"/>
          </a:solidFill>
          <a:ln w="12700">
            <a:solidFill>
              <a:srgbClr val="6F6F6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89120" y="4315968"/>
            <a:ext cx="22128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</a:rPr>
              <a:t>Decision framework to scale successful pilots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306056" y="1645920"/>
            <a:ext cx="2788920" cy="3611880"/>
          </a:xfrm>
          <a:prstGeom prst="roundRect">
            <a:avLst>
              <a:gd name="adj" fmla="val 1639"/>
            </a:avLst>
          </a:prstGeom>
          <a:solidFill>
            <a:srgbClr val="FFF6F0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88936" y="1901952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7722"/>
                </a:solidFill>
              </a:rPr>
              <a:t>Next steps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7507224" y="2523744"/>
            <a:ext cx="73152" cy="73152"/>
          </a:xfrm>
          <a:prstGeom prst="ellipse">
            <a:avLst/>
          </a:prstGeom>
          <a:solidFill>
            <a:srgbClr val="6F6F6F"/>
          </a:solidFill>
          <a:ln w="12700">
            <a:solidFill>
              <a:srgbClr val="6F6F6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53528" y="2450592"/>
            <a:ext cx="22128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</a:rPr>
              <a:t>Select pilot domains and confirm sponsors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7507224" y="3145536"/>
            <a:ext cx="73152" cy="73152"/>
          </a:xfrm>
          <a:prstGeom prst="ellipse">
            <a:avLst/>
          </a:prstGeom>
          <a:solidFill>
            <a:srgbClr val="6F6F6F"/>
          </a:solidFill>
          <a:ln w="12700">
            <a:solidFill>
              <a:srgbClr val="6F6F6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53528" y="3072384"/>
            <a:ext cx="22128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</a:rPr>
              <a:t>Launch POC and establish governance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7507224" y="3767328"/>
            <a:ext cx="73152" cy="73152"/>
          </a:xfrm>
          <a:prstGeom prst="ellipse">
            <a:avLst/>
          </a:prstGeom>
          <a:solidFill>
            <a:srgbClr val="6F6F6F"/>
          </a:solidFill>
          <a:ln w="12700">
            <a:solidFill>
              <a:srgbClr val="6F6F6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653528" y="3694176"/>
            <a:ext cx="22128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</a:rPr>
              <a:t>Review outcomes and ROI at decision gate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7507224" y="4389120"/>
            <a:ext cx="73152" cy="73152"/>
          </a:xfrm>
          <a:prstGeom prst="ellipse">
            <a:avLst/>
          </a:prstGeom>
          <a:solidFill>
            <a:srgbClr val="6F6F6F"/>
          </a:solidFill>
          <a:ln w="12700">
            <a:solidFill>
              <a:srgbClr val="6F6F6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53528" y="4315968"/>
            <a:ext cx="22128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</a:rPr>
              <a:t>Scale to additional domains and pods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1005840" y="5559552"/>
            <a:ext cx="10149840" cy="658368"/>
          </a:xfrm>
          <a:prstGeom prst="roundRect">
            <a:avLst>
              <a:gd name="adj" fmla="val 5556"/>
            </a:avLst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188720" y="5724144"/>
            <a:ext cx="9784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Recommendation: approve a forward‑deployed engineer pilot to demonstrate value in new domains and establish a scalable UHC operating model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Optum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Forward-Deployed Engineer Model Proposal</dc:title>
  <dc:subject>PptxGenJS Presentation</dc:subject>
  <dc:creator>OpenAI</dc:creator>
  <cp:lastModifiedBy>OpenAI</cp:lastModifiedBy>
  <cp:revision>1</cp:revision>
  <dcterms:created xsi:type="dcterms:W3CDTF">2026-04-17T02:57:07Z</dcterms:created>
  <dcterms:modified xsi:type="dcterms:W3CDTF">2026-04-17T02:57:07Z</dcterms:modified>
</cp:coreProperties>
</file>