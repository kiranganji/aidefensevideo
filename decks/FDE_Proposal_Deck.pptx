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12121"/>
          </a:solidFill>
          <a:ln w="12700">
            <a:solidFill>
              <a:srgbClr val="2121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926080" cy="2926080"/>
          </a:xfrm>
          <a:prstGeom prst="ellipse">
            <a:avLst/>
          </a:prstGeom>
          <a:solidFill>
            <a:srgbClr val="E8631A">
              <a:alpha val="12000"/>
            </a:srgbClr>
          </a:solidFill>
          <a:ln w="12700">
            <a:solidFill>
              <a:srgbClr val="E8631A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E8631A">
              <a:alpha val="8000"/>
            </a:srgbClr>
          </a:solidFill>
          <a:ln w="12700">
            <a:solidFill>
              <a:srgbClr val="E8631A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934A"/>
                </a:solidFill>
              </a:rPr>
              <a:t>OPTUM · AI DEFENSE INITIATIVE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in Fraud Signals.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Team. One Model.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Ready to Scale.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3200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Proposing the Forward Deployed Engineer (FDE) 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Replicate AI Innovation Across UHC Domains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4160520"/>
            <a:ext cx="1600200" cy="7772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912" y="4535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194560" y="4160520"/>
            <a:ext cx="1600200" cy="7772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67712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267712" y="4535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0" y="4160520"/>
            <a:ext cx="1600200" cy="777240"/>
          </a:xfrm>
          <a:prstGeom prst="rect">
            <a:avLst/>
          </a:prstGeom>
          <a:solidFill>
            <a:srgbClr val="2E2E2E"/>
          </a:solidFill>
          <a:ln w="12700">
            <a:solidFill>
              <a:srgbClr val="3A3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96512" y="418795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096512" y="45354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Teams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Collaborated</a:t>
            </a:r>
            <a:endParaRPr lang="en-US" sz="8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132320" y="109728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THE PROOF OF CONCEPT: HOW AI DEFENSE CRACKED THE CODE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Collaboration Was the Secret Ingredient — Not Just Technology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4592" y="1463040"/>
            <a:ext cx="1572768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4592" y="1463040"/>
            <a:ext cx="1572768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7744" y="184708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" y="2423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side-by-side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&amp;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teams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773936" y="2569464"/>
            <a:ext cx="182880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38528" y="2523744"/>
            <a:ext cx="54864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463040"/>
            <a:ext cx="1572768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20240" y="1463040"/>
            <a:ext cx="1572768" cy="73152"/>
          </a:xfrm>
          <a:prstGeom prst="rect">
            <a:avLst/>
          </a:prstGeom>
          <a:solidFill>
            <a:srgbClr val="5B6CDB"/>
          </a:solidFill>
          <a:ln w="12700">
            <a:solidFill>
              <a:srgbClr val="5B6C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93392" y="184708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93392" y="2423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rules, signals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institutional knowledge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agent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29584" y="2569464"/>
            <a:ext cx="182880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94176" y="2523744"/>
            <a:ext cx="54864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75888" y="1463040"/>
            <a:ext cx="1572768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75888" y="1463040"/>
            <a:ext cx="1572768" cy="73152"/>
          </a:xfrm>
          <a:prstGeom prst="rect">
            <a:avLst/>
          </a:prstGeom>
          <a:solidFill>
            <a:srgbClr val="2AA876"/>
          </a:solidFill>
          <a:ln w="12700">
            <a:solidFill>
              <a:srgbClr val="2AA8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A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184708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Agentic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2423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Translated context into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analytics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85232" y="2569464"/>
            <a:ext cx="182880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49824" y="2523744"/>
            <a:ext cx="54864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31536" y="1463040"/>
            <a:ext cx="1572768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31536" y="1463040"/>
            <a:ext cx="1572768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4688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04688" y="184708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 Team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04688" y="2423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with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team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accuracy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40880" y="2569464"/>
            <a:ext cx="182880" cy="7315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05472" y="2523744"/>
            <a:ext cx="54864" cy="1645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7184" y="1463040"/>
            <a:ext cx="1572768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87184" y="1463040"/>
            <a:ext cx="1572768" cy="73152"/>
          </a:xfrm>
          <a:prstGeom prst="rect">
            <a:avLst/>
          </a:prstGeom>
          <a:solidFill>
            <a:srgbClr val="5B6CDB"/>
          </a:solidFill>
          <a:ln w="12700">
            <a:solidFill>
              <a:srgbClr val="5B6C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0336" y="15727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260336" y="1847088"/>
            <a:ext cx="1426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 in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60336" y="2423160"/>
            <a:ext cx="14264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actionable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analytics in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months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64592" y="3931920"/>
            <a:ext cx="8814816" cy="868680"/>
          </a:xfrm>
          <a:prstGeom prst="rect">
            <a:avLst/>
          </a:prstGeom>
          <a:solidFill>
            <a:srgbClr val="FDE8D8"/>
          </a:solidFill>
          <a:ln w="12700">
            <a:solidFill>
              <a:srgbClr val="F49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005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20040" y="422452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FDE model worked because engineers lived inside the problem — not outside it. Hours of co-creation with SMEs, PI, and data teams gave our AI context that no dataset alone could provide.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FORWARD DEPLOYED ENGINEER MODEL — OPERATING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What Worked in AI Defense Across Every UHC Domain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4440" y="2057400"/>
            <a:ext cx="1828800" cy="182880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34440" y="2057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Defense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Team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" y="1417320"/>
            <a:ext cx="1508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" y="1417320"/>
            <a:ext cx="64008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" y="146304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UHC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0100" y="1746504"/>
            <a:ext cx="1348740" cy="1225296"/>
          </a:xfrm>
          <a:prstGeom prst="line">
            <a:avLst/>
          </a:prstGeom>
          <a:noFill/>
          <a:ln w="19050">
            <a:solidFill>
              <a:srgbClr val="E8631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154680" y="1417320"/>
            <a:ext cx="1508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17320"/>
            <a:ext cx="64008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146304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UHC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1746504"/>
            <a:ext cx="1760220" cy="1225296"/>
          </a:xfrm>
          <a:prstGeom prst="line">
            <a:avLst/>
          </a:prstGeom>
          <a:noFill/>
          <a:ln w="19050">
            <a:solidFill>
              <a:srgbClr val="E8631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" y="3291840"/>
            <a:ext cx="1508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" y="3291840"/>
            <a:ext cx="64008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5448" y="333756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00100" y="2971800"/>
            <a:ext cx="1348740" cy="649224"/>
          </a:xfrm>
          <a:prstGeom prst="line">
            <a:avLst/>
          </a:prstGeom>
          <a:noFill/>
          <a:ln w="19050">
            <a:solidFill>
              <a:srgbClr val="E8631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154680" y="3291840"/>
            <a:ext cx="1508760" cy="658368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3291840"/>
            <a:ext cx="64008" cy="658368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3337560"/>
            <a:ext cx="1380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Risk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48840" y="2971800"/>
            <a:ext cx="1760220" cy="649224"/>
          </a:xfrm>
          <a:prstGeom prst="line">
            <a:avLst/>
          </a:prstGeom>
          <a:noFill/>
          <a:ln w="19050">
            <a:solidFill>
              <a:srgbClr val="E8631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663440" y="1371600"/>
            <a:ext cx="420624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371600"/>
            <a:ext cx="64008" cy="10789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1463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 &amp; Learn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175564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engineers join the domain team for 4-6 weeks. No remote handoffs — full co-location to absorb business context, data systems &amp; pain points.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606040"/>
            <a:ext cx="420624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2606040"/>
            <a:ext cx="64008" cy="1078992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2697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With, Not For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299008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solutions are co-created with SMEs. Every agentic workflow is grounded in validated business logic — not handed over as a black box.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3840480"/>
            <a:ext cx="4206240" cy="1078992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840480"/>
            <a:ext cx="64008" cy="10789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Transfer &amp; Scale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28032" y="422452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exits once a POC is proven and the domain team is self-sufficient. Reusable components return to the AI Defense platform library.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1325880"/>
            <a:ext cx="0" cy="365760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ROADMAP: FROM PROOF OF CONCEPT TO ENTERPRISE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Playbook to Embed FDEs, Prove Value, and Replicate Across UHC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72768" y="1261872"/>
            <a:ext cx="7461504" cy="27432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194560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816352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M3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38144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59936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81728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303520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25312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M8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547104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M9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68896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M10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90688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M11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12480" y="12618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M12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572768" y="1554480"/>
            <a:ext cx="746150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" y="159105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&amp;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627632" y="1645920"/>
            <a:ext cx="512064" cy="3200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572768" y="2057400"/>
            <a:ext cx="746150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" y="209397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Embed –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POC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49424" y="2148840"/>
            <a:ext cx="1755648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572768" y="2560320"/>
            <a:ext cx="746150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" y="259689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Build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49424" y="2651760"/>
            <a:ext cx="2377440" cy="3200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72768" y="3063240"/>
            <a:ext cx="746150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" y="309981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Review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Go/No-Go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0" y="3154680"/>
            <a:ext cx="512064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72768" y="3566160"/>
            <a:ext cx="7461504" cy="502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" y="360273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 Embed –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Domain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36592" y="3657600"/>
            <a:ext cx="1755648" cy="320040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572768" y="4069080"/>
            <a:ext cx="7461504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" y="4105656"/>
            <a:ext cx="14630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Expand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80176" y="4160520"/>
            <a:ext cx="2999232" cy="32004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572768" y="4645152"/>
            <a:ext cx="3730752" cy="0"/>
          </a:xfrm>
          <a:prstGeom prst="line">
            <a:avLst/>
          </a:prstGeom>
          <a:noFill/>
          <a:ln w="25400">
            <a:solidFill>
              <a:srgbClr val="E86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72768" y="46634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PHASE 1: POC  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4645152"/>
            <a:ext cx="3730752" cy="0"/>
          </a:xfrm>
          <a:prstGeom prst="line">
            <a:avLst/>
          </a:prstGeom>
          <a:noFill/>
          <a:ln w="25400">
            <a:solidFill>
              <a:srgbClr val="4A4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4663440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 PHASE 2: SCALE-UP  ▶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73152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658368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FDE Model.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Innovation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UHC.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2651760"/>
            <a:ext cx="228600" cy="22860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FDE engagements for UHC Finance and HR as Phase 1 POC domains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3182112"/>
            <a:ext cx="228600" cy="22860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18211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2 FDE engineers per domain for 90-day embedded sprints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712464"/>
            <a:ext cx="228600" cy="22860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7124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7307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shared AI platform access and SME availability commitments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4242816"/>
            <a:ext cx="228600" cy="228600"/>
          </a:xfrm>
          <a:prstGeom prst="ellipse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24281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2611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lightweight governance board to track ROI and scale decisions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06440" y="3657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FFFFFF"/>
                </a:solidFill>
              </a:rPr>
              <a:t>EXPECTED IMPACT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6440" y="777240"/>
            <a:ext cx="3108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8229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3–5×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852160" y="12801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time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06440" y="1828800"/>
            <a:ext cx="3108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1874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852160" y="2331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domains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in Yr 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06440" y="2880360"/>
            <a:ext cx="3108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92608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~$150M+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852160" y="3383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waste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pipeline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806440" y="3931920"/>
            <a:ext cx="310896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39776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852160" y="4434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SME-validated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D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Deployed Engineer – AI Innovation at Scale</dc:title>
  <dc:subject>PptxGenJS Presentation</dc:subject>
  <dc:creator>PptxGenJS</dc:creator>
  <cp:lastModifiedBy>PptxGenJS</cp:lastModifiedBy>
  <cp:revision>1</cp:revision>
  <dcterms:created xsi:type="dcterms:W3CDTF">2026-04-17T02:53:52Z</dcterms:created>
  <dcterms:modified xsi:type="dcterms:W3CDTF">2026-04-17T02:53:52Z</dcterms:modified>
</cp:coreProperties>
</file>