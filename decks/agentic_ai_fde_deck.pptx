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256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01168" y="5029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Agentic AI
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Easy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2148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are stuck in the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trap — impressive demos,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production scale.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3246120"/>
            <a:ext cx="2788920" cy="153619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33101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" y="39136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leaders cite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 complexity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their #1 barrier to scale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1168" y="486460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KPMG Q4 AI Pulse Survey, 2026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401568" y="2560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BARRIERS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01568" y="4754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AI demos and enterprise-grade production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01568" y="813816"/>
            <a:ext cx="5394960" cy="274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914400"/>
            <a:ext cx="25420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1568" y="914400"/>
            <a:ext cx="64008" cy="1600200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7016" y="1042416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77056" y="10241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Complexity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57016" y="138988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architectures grow exponentially complex. Coordination overhead becomes the bottleneck — not model quality — as agents delegate, retry, and chain.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53328" y="914400"/>
            <a:ext cx="25420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53328" y="914400"/>
            <a:ext cx="64008" cy="1600200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04241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28816" y="10241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&amp; Infrastructure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208776" y="138988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 across departments creates duplicate costs, inconsistent security, and governance nightmares that point-solutions cannot bridge.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401568" y="2624328"/>
            <a:ext cx="25420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401568" y="2624328"/>
            <a:ext cx="64008" cy="1600200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275234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77056" y="27340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Safety Gaps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557016" y="3099816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read data must now act on it — executing transactions, moving capital. Security, observability, and compliance guardrails remain severely immature.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053328" y="2624328"/>
            <a:ext cx="25420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053328" y="2624328"/>
            <a:ext cx="64008" cy="1600200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75234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528816" y="27340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Customisation Chokepoint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208776" y="3099816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fail complex enterprise workflows. McKinsey estimates ²⁄₃ of organisations have not yet scaled AI across the enterprise despite trillions invested.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401568" y="4315968"/>
            <a:ext cx="5394960" cy="594360"/>
          </a:xfrm>
          <a:prstGeom prst="rect">
            <a:avLst/>
          </a:prstGeom>
          <a:solidFill>
            <a:srgbClr val="FDE8D8"/>
          </a:solidFill>
          <a:ln w="12700">
            <a:solidFill>
              <a:srgbClr val="FDE8D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38728" y="4370832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Only 25% of organisations have even piloted agentic systems — and doubling that by 2027 requires solving these barriers now.  (Deloitte, 2026)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401568" y="4956048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98448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98448"/>
            <a:ext cx="9144000" cy="5029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Deployed Engineer (FDE)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by Palantir · Now adopted by OpenAI, Salesforce, Databricks, Cohere and beyond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9260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64008" cy="135331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deployed its first FDEs — internally called "Deltas" — in the early 2010s, embedding elite engineers directly with government and intelligence clients to tackle world-scale data problems no off-the-shelf product could solve.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907792"/>
            <a:ext cx="2926080" cy="135331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62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319125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"FDE responsibilities look similar to those of a hands-on AI startup CTO: own end-to-end delivery of high-stakes projects, bridging raw models and enterprise reality."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Palantir Technologies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93008" y="1463040"/>
            <a:ext cx="26334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02736" y="1591056"/>
            <a:ext cx="310896" cy="31089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61848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297680" y="159105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30168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real code — data pipelines, LLM workflows, RAG systems, agentic architectures — not demos. Senior-level software engineering is non-negotiable.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493008" y="2706624"/>
            <a:ext cx="26334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02736" y="2834640"/>
            <a:ext cx="310896" cy="31089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2862072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97680" y="2834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Embedded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630168" y="31638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client's environment: their messy data, security constraints, and urgent problems. Acts as a temporary member of the client's team.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493008" y="3950208"/>
            <a:ext cx="26334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602736" y="4078224"/>
            <a:ext cx="310896" cy="310896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02736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4105656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297680" y="4078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Contributor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3630168" y="440740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field learnings back into the core product. FDEs are not just deployers — they shape the platform based on real-world enterprise friction.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400800" y="14813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400800" y="1709928"/>
            <a:ext cx="2468880" cy="274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17647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AI models are blueprints. FDEs are the architects who make them real inside enterprises — handling messy data, security, compliance, and custom workflow logic that no API alone can solve.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400800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6400800" y="3063240"/>
            <a:ext cx="91440" cy="91440"/>
          </a:xfrm>
          <a:prstGeom prst="ellipse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53796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7562088" y="2999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Originator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400800" y="3383280"/>
            <a:ext cx="91440" cy="9144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37960" y="3319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7562088" y="3319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 team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6400800" y="3703320"/>
            <a:ext cx="91440" cy="9144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53796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7562088" y="3639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deployments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6400800" y="4023360"/>
            <a:ext cx="91440" cy="9144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37960" y="3959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562088" y="3959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production pipeline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6400800" y="4343400"/>
            <a:ext cx="91440" cy="9144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37960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7562088" y="4279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platform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6400800" y="4663440"/>
            <a:ext cx="91440" cy="9144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37960" y="4599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Rippling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7562088" y="4599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customisation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600" dirty="0"/>
          </a:p>
        </p:txBody>
      </p:sp>
      <p:sp>
        <p:nvSpPr>
          <p:cNvPr id="56" name="Text 5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61872"/>
            <a:ext cx="9144000" cy="5029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PROFILE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Ideal FDE — and Why Are They So Rare?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that sits at the intersection of three demanding disciplines — almost never found in a single person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DNA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2651760" cy="274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64008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" y="176479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Engineering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029968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cloud infra (AWS / GCP / Azure)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4048" y="2231136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RAG / agentic framework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84048" y="2432304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production-grade code &amp; data pipelines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74320" y="27203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720340"/>
            <a:ext cx="64008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1178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" y="279349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84048" y="3058668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boardroom goals → technical specs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84048" y="3259836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ROI-driven thinking in high-stakes meetings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84048" y="3461004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fluency: finance, healthcare, logistics…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274320" y="37490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74320" y="3749040"/>
            <a:ext cx="64008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048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" y="382219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Fluency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84048" y="4087368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&amp; rapid problem decomposition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384048" y="4288536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org politics &amp; senior stakeholders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384048" y="4489704"/>
            <a:ext cx="24323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live, under pressure, in public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182112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RARE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3182112" y="1627632"/>
            <a:ext cx="2834640" cy="274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182112" y="1691640"/>
            <a:ext cx="283464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182112" y="1691640"/>
            <a:ext cx="64008" cy="9418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78308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566160" y="17647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Unicorn Problem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3273552" y="2029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avoid client-facing roles. Consultants can't ship production code. Strategists lack technical depth. The FDE must be all three — simultaneously.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3182112" y="2720340"/>
            <a:ext cx="2834640" cy="941832"/>
          </a:xfrm>
          <a:prstGeom prst="rect">
            <a:avLst/>
          </a:prstGeom>
          <a:solidFill>
            <a:srgbClr val="FFF3EC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82112" y="2720340"/>
            <a:ext cx="64008" cy="9418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811780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566160" y="27934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Track Exists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3273552" y="30586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ladders reward specialisation. There is no clear 'FDE path' in most firms — making recruitment, comp benchmarking, and retention structurally broken.</a:t>
            </a:r>
            <a:endParaRPr lang="en-US" sz="750" dirty="0"/>
          </a:p>
        </p:txBody>
      </p:sp>
      <p:sp>
        <p:nvSpPr>
          <p:cNvPr id="42" name="Shape 35"/>
          <p:cNvSpPr/>
          <p:nvPr/>
        </p:nvSpPr>
        <p:spPr>
          <a:xfrm>
            <a:off x="3182112" y="3749040"/>
            <a:ext cx="283464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182112" y="3749040"/>
            <a:ext cx="64008" cy="9418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3840480"/>
            <a:ext cx="219456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566160" y="38221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by Design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3273552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travel and relentless context-switching between industries create attrition rates far above standard engineering. FDE supply is shrinking as demand surges.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3182112" y="4690872"/>
            <a:ext cx="2834640" cy="548640"/>
          </a:xfrm>
          <a:prstGeom prst="rect">
            <a:avLst/>
          </a:prstGeom>
          <a:solidFill>
            <a:srgbClr val="FDE8D8"/>
          </a:solidFill>
          <a:ln w="12700">
            <a:solidFill>
              <a:srgbClr val="FDE8D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3273552" y="4727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in 50  senior engineers possess the combined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depth, client empathy &amp; business fluency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6199632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E86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</a:t>
            </a:r>
            <a:endParaRPr lang="en-US" sz="700" dirty="0"/>
          </a:p>
        </p:txBody>
      </p:sp>
      <p:sp>
        <p:nvSpPr>
          <p:cNvPr id="50" name="Shape 42"/>
          <p:cNvSpPr/>
          <p:nvPr/>
        </p:nvSpPr>
        <p:spPr>
          <a:xfrm>
            <a:off x="6199632" y="1627632"/>
            <a:ext cx="2651760" cy="274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199632" y="16916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6199632" y="1691640"/>
            <a:ext cx="420624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199632" y="1691640"/>
            <a:ext cx="4206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4" name="Text 46"/>
          <p:cNvSpPr/>
          <p:nvPr/>
        </p:nvSpPr>
        <p:spPr>
          <a:xfrm>
            <a:off x="6675120" y="1764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Grow, Don't Just Hire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667512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high-potential senior engineers and invest in structured rotations: 3-month client embeds, business strategy modules, and AI/LLM immersion sprints.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6199632" y="27203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6199632" y="2720340"/>
            <a:ext cx="420624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199632" y="2720340"/>
            <a:ext cx="4206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6675120" y="27934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Career Architecture</a:t>
            </a:r>
            <a:endParaRPr lang="en-US" sz="950" dirty="0"/>
          </a:p>
        </p:txBody>
      </p:sp>
      <p:sp>
        <p:nvSpPr>
          <p:cNvPr id="60" name="Text 52"/>
          <p:cNvSpPr/>
          <p:nvPr/>
        </p:nvSpPr>
        <p:spPr>
          <a:xfrm>
            <a:off x="6675120" y="30586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FDE ladder with clear progression and comp 20–40% above market. Without a visible growth path, you will lose them to companies that have one.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6199632" y="3749040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2" name="Shape 54"/>
          <p:cNvSpPr/>
          <p:nvPr/>
        </p:nvSpPr>
        <p:spPr>
          <a:xfrm>
            <a:off x="6199632" y="3749040"/>
            <a:ext cx="420624" cy="94183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199632" y="3749040"/>
            <a:ext cx="4206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4" name="Text 56"/>
          <p:cNvSpPr/>
          <p:nvPr/>
        </p:nvSpPr>
        <p:spPr>
          <a:xfrm>
            <a:off x="6675120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Model Over Solo Heroes</a:t>
            </a:r>
            <a:endParaRPr lang="en-US" sz="950" dirty="0"/>
          </a:p>
        </p:txBody>
      </p:sp>
      <p:sp>
        <p:nvSpPr>
          <p:cNvPr id="65" name="Text 57"/>
          <p:cNvSpPr/>
          <p:nvPr/>
        </p:nvSpPr>
        <p:spPr>
          <a:xfrm>
            <a:off x="6675120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Strategist + two FDEs per engagement. Distributes the 'unicorn burden' across complementary strengths — proven at scale by Palantir and Salesforce.</a:t>
            </a:r>
            <a:endParaRPr lang="en-US" sz="750" dirty="0"/>
          </a:p>
        </p:txBody>
      </p:sp>
      <p:sp>
        <p:nvSpPr>
          <p:cNvPr id="66" name="Shape 58"/>
          <p:cNvSpPr/>
          <p:nvPr/>
        </p:nvSpPr>
        <p:spPr>
          <a:xfrm>
            <a:off x="6199632" y="4690872"/>
            <a:ext cx="2651760" cy="54864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199632" y="4690872"/>
            <a:ext cx="420624" cy="548640"/>
          </a:xfrm>
          <a:prstGeom prst="rect">
            <a:avLst/>
          </a:prstGeom>
          <a:solidFill>
            <a:srgbClr val="B35510"/>
          </a:solidFill>
          <a:ln w="12700">
            <a:solidFill>
              <a:srgbClr val="B35510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199632" y="469087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1"/>
          <p:cNvSpPr/>
          <p:nvPr/>
        </p:nvSpPr>
        <p:spPr>
          <a:xfrm>
            <a:off x="6675120" y="47365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FDEs to 1–2 verticals. Depth creates trust — and slashes the learning curve on every new engagement.</a:t>
            </a:r>
            <a:endParaRPr lang="en-US" sz="750" dirty="0"/>
          </a:p>
        </p:txBody>
      </p:sp>
      <p:sp>
        <p:nvSpPr>
          <p:cNvPr id="70" name="Shape 62"/>
          <p:cNvSpPr/>
          <p:nvPr/>
        </p:nvSpPr>
        <p:spPr>
          <a:xfrm>
            <a:off x="0" y="4800600"/>
            <a:ext cx="9144000" cy="73152"/>
          </a:xfrm>
          <a:prstGeom prst="rect">
            <a:avLst/>
          </a:prstGeom>
          <a:solidFill>
            <a:srgbClr val="E8681A"/>
          </a:solidFill>
          <a:ln w="12700">
            <a:solidFill>
              <a:srgbClr val="E8681A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600" dirty="0"/>
          </a:p>
        </p:txBody>
      </p:sp>
      <p:sp>
        <p:nvSpPr>
          <p:cNvPr id="73" name="Text 6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2026-04-18T15:04:38Z</dcterms:created>
  <dcterms:modified xsi:type="dcterms:W3CDTF">2026-04-18T15:04:38Z</dcterms:modified>
</cp:coreProperties>
</file>